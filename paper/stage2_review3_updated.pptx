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23"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F84ED3-93C1-41D6-B369-CD37911B0747}">
  <a:tblStyle styleId="{49F84ED3-93C1-41D6-B369-CD37911B074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F1E6"/>
          </a:solidFill>
        </a:fill>
      </a:tcStyle>
    </a:wholeTbl>
    <a:band1H>
      <a:tcTxStyle b="off" i="off"/>
      <a:tcStyle>
        <a:tcBdr/>
        <a:fill>
          <a:solidFill>
            <a:srgbClr val="F9E2CA"/>
          </a:solidFill>
        </a:fill>
      </a:tcStyle>
    </a:band1H>
    <a:band2H>
      <a:tcTxStyle b="off" i="off"/>
      <a:tcStyle>
        <a:tcBdr/>
      </a:tcStyle>
    </a:band2H>
    <a:band1V>
      <a:tcTxStyle b="off" i="off"/>
      <a:tcStyle>
        <a:tcBdr/>
        <a:fill>
          <a:solidFill>
            <a:srgbClr val="F9E2C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3086DF04-F927-47E4-8721-DB481586401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ee3c40d1cf_0_5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g3ee3c40d1cf_0_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f23e5badf0_4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f23e5badf0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2" name="Google Shape;24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f2362b5fcb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0" name="Google Shape;250;g3f2362b5fcb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ee3c40d1cf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ee3c40d1c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ee3c40d1cf_0_5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4" name="Google Shape;304;g3ee3c40d1cf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ee3c40d1cf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3" name="Google Shape;313;g3ee3c40d1c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cfe4293c3a_6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0" name="Google Shape;360;g3cfe4293c3a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ee3c40d1cf_0_2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9" name="Google Shape;369;g3ee3c40d1cf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5" name="Google Shape;40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cfe4293c3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g3cfe4293c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ee3c40d1cf_0_1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5" name="Google Shape;425;g3ee3c40d1cf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0" name="Google Shape;46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9" name="Google Shape;46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8" name="Google Shape;47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ee3c40d1cf_0_3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g3ee3c40d1cf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ee3c40d1c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8" name="Google Shape;528;g3ee3c40d1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ee3c40d1cf_0_4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7" name="Google Shape;537;g3ee3c40d1cf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ee3c40d1cf_0_5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8" name="Google Shape;568;g3ee3c40d1cf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ec2a45e58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6" name="Google Shape;576;g3ec2a45e58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ec49bdb8e8_0_2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6" name="Google Shape;586;g3ec49bdb8e8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cfe4293c3a_5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6" name="Google Shape;596;g3cfe4293c3a_5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ee3c40d1c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5" name="Google Shape;605;g3ee3c40d1c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cfe4293c3a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cfe4293c3a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d0058f4a25_0_97:notes"/>
          <p:cNvSpPr txBox="1">
            <a:spLocks noGrp="1"/>
          </p:cNvSpPr>
          <p:nvPr>
            <p:ph type="body" idx="1"/>
          </p:nvPr>
        </p:nvSpPr>
        <p:spPr>
          <a:xfrm>
            <a:off x="2286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6" name="Google Shape;64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4" name="Google Shape;65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f23e5badf0_5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2" name="Google Shape;662;g3f23e5badf0_5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0" name="Google Shape;67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8" name="Google Shape;67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8" name="Google Shape;688;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4" name="Google Shape;70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2" name="Google Shape;71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dc97d02d3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0" name="Google Shape;720;g3dc97d02d3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3dc97d02d3f_3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8" name="Google Shape;728;g3dc97d02d3f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dc97d02d3f_3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6" name="Google Shape;736;g3dc97d02d3f_3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4" name="Google Shape;74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f2362b5fcb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3" name="Google Shape;753;g3f2362b5fcb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3" name="Google Shape;76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dc97d02d3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2" name="Google Shape;772;g3dc97d02d3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dc97d02d3f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1" name="Google Shape;781;g3dc97d02d3f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dc97d02d3f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9" name="Google Shape;789;g3dc97d02d3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3dc97d02d3f_3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7" name="Google Shape;797;g3dc97d02d3f_3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dc97d02d3f_3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5" name="Google Shape;805;g3dc97d02d3f_3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3cfe4293c3a_6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3" name="Google Shape;813;g3cfe4293c3a_6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3dc97d02d3f_6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2" name="Google Shape;822;g3dc97d02d3f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3dc97d02d3f_6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4" name="Google Shape;834;g3dc97d02d3f_6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3" name="Google Shape;84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1" name="Google Shape;85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rot="5400000">
            <a:off x="5463778" y="1371600"/>
            <a:ext cx="4388644"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rot="5400000">
            <a:off x="2874764" y="-1217414"/>
            <a:ext cx="3394471"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 name="Google Shape;30;p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1792288" y="3600450"/>
            <a:ext cx="5486400" cy="425053"/>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p6"/>
          <p:cNvSpPr>
            <a:spLocks noGrp="1"/>
          </p:cNvSpPr>
          <p:nvPr>
            <p:ph type="pic" idx="2"/>
          </p:nvPr>
        </p:nvSpPr>
        <p:spPr>
          <a:xfrm>
            <a:off x="1792288" y="459581"/>
            <a:ext cx="5486400" cy="3086100"/>
          </a:xfrm>
          <a:prstGeom prst="rect">
            <a:avLst/>
          </a:prstGeom>
          <a:noFill/>
          <a:ln>
            <a:noFill/>
          </a:ln>
        </p:spPr>
      </p:sp>
      <p:sp>
        <p:nvSpPr>
          <p:cNvPr id="36" name="Google Shape;36;p6"/>
          <p:cNvSpPr txBox="1">
            <a:spLocks noGrp="1"/>
          </p:cNvSpPr>
          <p:nvPr>
            <p:ph type="body" idx="1"/>
          </p:nvPr>
        </p:nvSpPr>
        <p:spPr>
          <a:xfrm>
            <a:off x="1792288" y="4025503"/>
            <a:ext cx="5486400" cy="603646"/>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7" name="Google Shape;37;p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04788"/>
            <a:ext cx="3008313" cy="87153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3" name="Google Shape;43;p7"/>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4" name="Google Shape;44;p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6" name="Google Shape;56;p9"/>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8" name="Google Shape;58;p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4" name="Google Shape;64;p10"/>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5" name="Google Shape;65;p1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71" name="Google Shape;71;p1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a:off x="457200" y="1200150"/>
            <a:ext cx="8229600" cy="3394471"/>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enerated">
  <p:cSld name="Generated">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200150"/>
            <a:ext cx="8229600" cy="3394471"/>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1.png"/><Relationship Id="rId10"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21.png"/><Relationship Id="rId5"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23.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24.png"/><Relationship Id="rId9"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2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3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35.png"/><Relationship Id="rId5"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 Id="rId4" Type="http://schemas.openxmlformats.org/officeDocument/2006/relationships/image" Target="../media/image37.png"/><Relationship Id="rId5"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jpg"/><Relationship Id="rId4" Type="http://schemas.openxmlformats.org/officeDocument/2006/relationships/hyperlink" Target="https://doi.org/10.34740/kaggle/dsv/13547765"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jpg"/><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jp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jpg"/><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jpg"/><Relationship Id="rId4" Type="http://schemas.openxmlformats.org/officeDocument/2006/relationships/image" Target="../media/image46.jpg"/><Relationship Id="rId5"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jpg"/><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jpg"/><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jpg"/><Relationship Id="rId4" Type="http://schemas.openxmlformats.org/officeDocument/2006/relationships/image" Target="../media/image4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jpg"/><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kaggle.com/datasets/aj1714/crowd-panic-dataset" TargetMode="External"/><Relationship Id="rId4"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jpg"/><Relationship Id="rId4"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4"/>
          <p:cNvSpPr txBox="1">
            <a:spLocks noGrp="1"/>
          </p:cNvSpPr>
          <p:nvPr>
            <p:ph type="subTitle" idx="1"/>
          </p:nvPr>
        </p:nvSpPr>
        <p:spPr>
          <a:xfrm>
            <a:off x="641875" y="1416275"/>
            <a:ext cx="7826100" cy="989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800"/>
              <a:buNone/>
            </a:pPr>
            <a:r>
              <a:rPr lang="en-GB" sz="2000" b="1" dirty="0">
                <a:solidFill>
                  <a:schemeClr val="dk1"/>
                </a:solidFill>
                <a:latin typeface="Times New Roman"/>
                <a:ea typeface="Times New Roman"/>
                <a:cs typeface="Times New Roman"/>
                <a:sym typeface="Times New Roman"/>
              </a:rPr>
              <a:t>Project Stage II Review I</a:t>
            </a:r>
            <a:endParaRPr sz="20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2800"/>
              <a:buNone/>
            </a:pPr>
            <a:r>
              <a:rPr lang="en-GB" sz="2000" b="1" dirty="0">
                <a:solidFill>
                  <a:schemeClr val="dk1"/>
                </a:solidFill>
                <a:latin typeface="Times New Roman"/>
                <a:ea typeface="Times New Roman"/>
                <a:cs typeface="Times New Roman"/>
                <a:sym typeface="Times New Roman"/>
              </a:rPr>
              <a:t>on</a:t>
            </a:r>
            <a:endParaRPr lang="en-IN" sz="20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2800"/>
              <a:buNone/>
            </a:pPr>
            <a:r>
              <a:rPr lang="en-US" sz="2000" b="1" dirty="0">
                <a:solidFill>
                  <a:schemeClr val="dk1"/>
                </a:solidFill>
                <a:latin typeface="Times New Roman"/>
                <a:ea typeface="Times New Roman"/>
                <a:cs typeface="Times New Roman"/>
                <a:sym typeface="Times New Roman"/>
              </a:rPr>
              <a:t> Image Geolocation and Hazard-Aware Response</a:t>
            </a:r>
            <a:endParaRPr lang="en-IN" sz="2500" dirty="0">
              <a:solidFill>
                <a:schemeClr val="dk1"/>
              </a:solidFill>
              <a:latin typeface="Times New Roman"/>
              <a:ea typeface="Times New Roman"/>
              <a:cs typeface="Times New Roman"/>
              <a:sym typeface="Times New Roman"/>
            </a:endParaRPr>
          </a:p>
          <a:p>
            <a:pPr marL="0" lvl="0" indent="0" algn="ctr" rtl="0">
              <a:lnSpc>
                <a:spcPct val="100000"/>
              </a:lnSpc>
              <a:spcBef>
                <a:spcPts val="560"/>
              </a:spcBef>
              <a:spcAft>
                <a:spcPts val="0"/>
              </a:spcAft>
              <a:buClr>
                <a:srgbClr val="888888"/>
              </a:buClr>
              <a:buSzPts val="2800"/>
              <a:buNone/>
            </a:pPr>
            <a:endParaRPr sz="2500" b="0" i="0" u="none" dirty="0">
              <a:solidFill>
                <a:schemeClr val="dk1"/>
              </a:solidFill>
              <a:latin typeface="Times New Roman"/>
              <a:ea typeface="Times New Roman"/>
              <a:cs typeface="Times New Roman"/>
              <a:sym typeface="Times New Roman"/>
            </a:endParaRPr>
          </a:p>
          <a:p>
            <a:pPr marL="0" lvl="0" indent="0" algn="ctr" rtl="0">
              <a:lnSpc>
                <a:spcPct val="100000"/>
              </a:lnSpc>
              <a:spcBef>
                <a:spcPts val="560"/>
              </a:spcBef>
              <a:spcAft>
                <a:spcPts val="0"/>
              </a:spcAft>
              <a:buClr>
                <a:srgbClr val="888888"/>
              </a:buClr>
              <a:buSzPts val="2800"/>
              <a:buNone/>
            </a:pPr>
            <a:endParaRPr sz="2800" b="0" i="0" u="none" dirty="0">
              <a:solidFill>
                <a:schemeClr val="dk1"/>
              </a:solidFill>
              <a:latin typeface="Times New Roman"/>
              <a:ea typeface="Times New Roman"/>
              <a:cs typeface="Times New Roman"/>
              <a:sym typeface="Times New Roman"/>
            </a:endParaRPr>
          </a:p>
        </p:txBody>
      </p:sp>
      <p:sp>
        <p:nvSpPr>
          <p:cNvPr id="86" name="Google Shape;86;p14"/>
          <p:cNvSpPr txBox="1"/>
          <p:nvPr/>
        </p:nvSpPr>
        <p:spPr>
          <a:xfrm>
            <a:off x="0" y="914400"/>
            <a:ext cx="9144000" cy="57150"/>
          </a:xfrm>
          <a:prstGeom prst="rect">
            <a:avLst/>
          </a:prstGeom>
          <a:solidFill>
            <a:schemeClr val="accent2">
              <a:alpha val="47843"/>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 name="Google Shape;87;p14"/>
          <p:cNvSpPr txBox="1"/>
          <p:nvPr/>
        </p:nvSpPr>
        <p:spPr>
          <a:xfrm>
            <a:off x="0" y="983453"/>
            <a:ext cx="9144000" cy="529800"/>
          </a:xfrm>
          <a:prstGeom prst="rect">
            <a:avLst/>
          </a:prstGeom>
          <a:solidFill>
            <a:srgbClr val="005EA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 name="Google Shape;88;p14"/>
          <p:cNvSpPr txBox="1"/>
          <p:nvPr/>
        </p:nvSpPr>
        <p:spPr>
          <a:xfrm>
            <a:off x="-110225" y="1066800"/>
            <a:ext cx="9330300" cy="4464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GB" sz="2300" b="0" i="0" u="none" strike="noStrike" cap="none">
                <a:solidFill>
                  <a:schemeClr val="lt1"/>
                </a:solidFill>
                <a:latin typeface="Times New Roman"/>
                <a:ea typeface="Times New Roman"/>
                <a:cs typeface="Times New Roman"/>
                <a:sym typeface="Times New Roman"/>
              </a:rPr>
              <a:t>A Project Presentation for the Degree of  Bachelor in Computer Engineering</a:t>
            </a:r>
            <a:endParaRPr sz="2400" b="0" i="0" u="none" strike="noStrike" cap="none">
              <a:solidFill>
                <a:schemeClr val="lt1"/>
              </a:solidFill>
              <a:latin typeface="Times New Roman"/>
              <a:ea typeface="Times New Roman"/>
              <a:cs typeface="Times New Roman"/>
              <a:sym typeface="Times New Roman"/>
            </a:endParaRPr>
          </a:p>
        </p:txBody>
      </p:sp>
      <p:sp>
        <p:nvSpPr>
          <p:cNvPr id="89" name="Google Shape;89;p14"/>
          <p:cNvSpPr txBox="1"/>
          <p:nvPr/>
        </p:nvSpPr>
        <p:spPr>
          <a:xfrm>
            <a:off x="533400" y="2634275"/>
            <a:ext cx="8610600" cy="21567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46172"/>
              </a:buClr>
              <a:buSzPts val="2000"/>
              <a:buFont typeface="Times New Roman"/>
              <a:buNone/>
            </a:pPr>
            <a:r>
              <a:rPr lang="en-GB" sz="1900" b="1" i="0" u="none" strike="noStrike" cap="none" dirty="0">
                <a:solidFill>
                  <a:srgbClr val="246172"/>
                </a:solidFill>
                <a:latin typeface="Times New Roman"/>
                <a:ea typeface="Times New Roman"/>
                <a:cs typeface="Times New Roman"/>
                <a:sym typeface="Times New Roman"/>
              </a:rPr>
              <a:t>Group Member Name</a:t>
            </a:r>
            <a:endParaRPr sz="1900" b="1" i="0" u="none" strike="noStrike" cap="none" dirty="0">
              <a:solidFill>
                <a:srgbClr val="246172"/>
              </a:solidFill>
              <a:latin typeface="Times New Roman"/>
              <a:ea typeface="Times New Roman"/>
              <a:cs typeface="Times New Roman"/>
              <a:sym typeface="Times New Roman"/>
            </a:endParaRPr>
          </a:p>
          <a:p>
            <a:pPr marL="0" marR="0" lvl="0" indent="457200" algn="l" rtl="0">
              <a:lnSpc>
                <a:spcPct val="100000"/>
              </a:lnSpc>
              <a:spcBef>
                <a:spcPts val="0"/>
              </a:spcBef>
              <a:spcAft>
                <a:spcPts val="0"/>
              </a:spcAft>
              <a:buClr>
                <a:srgbClr val="246172"/>
              </a:buClr>
              <a:buSzPts val="2000"/>
              <a:buFont typeface="Times New Roman"/>
              <a:buNone/>
            </a:pPr>
            <a:r>
              <a:rPr lang="en-GB" sz="1900" b="0" i="0" u="none" strike="noStrike" cap="none" dirty="0">
                <a:solidFill>
                  <a:srgbClr val="246172"/>
                </a:solidFill>
                <a:latin typeface="Times New Roman"/>
                <a:ea typeface="Times New Roman"/>
                <a:cs typeface="Times New Roman"/>
                <a:sym typeface="Times New Roman"/>
              </a:rPr>
              <a:t>1) </a:t>
            </a:r>
            <a:r>
              <a:rPr lang="en-GB" sz="1900" dirty="0">
                <a:solidFill>
                  <a:srgbClr val="246172"/>
                </a:solidFill>
                <a:latin typeface="Times New Roman"/>
                <a:ea typeface="Times New Roman"/>
                <a:cs typeface="Times New Roman"/>
                <a:sym typeface="Times New Roman"/>
              </a:rPr>
              <a:t>Bhargav Dave</a:t>
            </a:r>
            <a:r>
              <a:rPr lang="en-GB" sz="1900" b="0" i="0" u="none" strike="noStrike" cap="none" dirty="0">
                <a:solidFill>
                  <a:srgbClr val="246172"/>
                </a:solidFill>
                <a:latin typeface="Times New Roman"/>
                <a:ea typeface="Times New Roman"/>
                <a:cs typeface="Times New Roman"/>
                <a:sym typeface="Times New Roman"/>
              </a:rPr>
              <a:t>		3) </a:t>
            </a:r>
            <a:r>
              <a:rPr lang="en-GB" sz="1900" dirty="0">
                <a:solidFill>
                  <a:srgbClr val="246172"/>
                </a:solidFill>
                <a:latin typeface="Times New Roman"/>
                <a:ea typeface="Times New Roman"/>
                <a:cs typeface="Times New Roman"/>
                <a:sym typeface="Times New Roman"/>
              </a:rPr>
              <a:t>Nibodh </a:t>
            </a:r>
            <a:r>
              <a:rPr lang="en-GB" sz="1900" dirty="0" err="1">
                <a:solidFill>
                  <a:srgbClr val="246172"/>
                </a:solidFill>
                <a:latin typeface="Times New Roman"/>
                <a:ea typeface="Times New Roman"/>
                <a:cs typeface="Times New Roman"/>
                <a:sym typeface="Times New Roman"/>
              </a:rPr>
              <a:t>Daware</a:t>
            </a:r>
            <a:endParaRPr sz="1300" b="0" i="0" u="none" strike="noStrike" cap="none" dirty="0">
              <a:solidFill>
                <a:srgbClr val="000000"/>
              </a:solidFill>
              <a:latin typeface="Arial"/>
              <a:ea typeface="Arial"/>
              <a:cs typeface="Arial"/>
              <a:sym typeface="Arial"/>
            </a:endParaRPr>
          </a:p>
          <a:p>
            <a:pPr marL="0" marR="0" lvl="0" indent="457200" algn="l" rtl="0">
              <a:lnSpc>
                <a:spcPct val="100000"/>
              </a:lnSpc>
              <a:spcBef>
                <a:spcPts val="0"/>
              </a:spcBef>
              <a:spcAft>
                <a:spcPts val="0"/>
              </a:spcAft>
              <a:buClr>
                <a:srgbClr val="246172"/>
              </a:buClr>
              <a:buSzPts val="2000"/>
              <a:buFont typeface="Times New Roman"/>
              <a:buNone/>
            </a:pPr>
            <a:r>
              <a:rPr lang="en-GB" sz="1900" b="0" i="0" u="none" strike="noStrike" cap="none" dirty="0">
                <a:solidFill>
                  <a:srgbClr val="246172"/>
                </a:solidFill>
                <a:latin typeface="Times New Roman"/>
                <a:ea typeface="Times New Roman"/>
                <a:cs typeface="Times New Roman"/>
                <a:sym typeface="Times New Roman"/>
              </a:rPr>
              <a:t>2) </a:t>
            </a:r>
            <a:r>
              <a:rPr lang="en-GB" sz="1900" dirty="0">
                <a:solidFill>
                  <a:srgbClr val="246172"/>
                </a:solidFill>
                <a:latin typeface="Times New Roman"/>
                <a:ea typeface="Times New Roman"/>
                <a:cs typeface="Times New Roman"/>
                <a:sym typeface="Times New Roman"/>
              </a:rPr>
              <a:t>Kiran Raut </a:t>
            </a:r>
            <a:r>
              <a:rPr lang="en-GB" sz="1900" b="0" i="0" u="none" strike="noStrike" cap="none" dirty="0">
                <a:solidFill>
                  <a:srgbClr val="246172"/>
                </a:solidFill>
                <a:latin typeface="Times New Roman"/>
                <a:ea typeface="Times New Roman"/>
                <a:cs typeface="Times New Roman"/>
                <a:sym typeface="Times New Roman"/>
              </a:rPr>
              <a:t>		4) </a:t>
            </a:r>
            <a:r>
              <a:rPr lang="en-GB" sz="1900" dirty="0">
                <a:solidFill>
                  <a:srgbClr val="246172"/>
                </a:solidFill>
                <a:latin typeface="Times New Roman"/>
                <a:ea typeface="Times New Roman"/>
                <a:cs typeface="Times New Roman"/>
                <a:sym typeface="Times New Roman"/>
              </a:rPr>
              <a:t>Shreyash Borge</a:t>
            </a:r>
            <a:endParaRPr sz="1900" b="0" i="0" u="none" strike="noStrike" cap="none" dirty="0">
              <a:solidFill>
                <a:srgbClr val="246172"/>
              </a:solidFill>
              <a:latin typeface="Times New Roman"/>
              <a:ea typeface="Times New Roman"/>
              <a:cs typeface="Times New Roman"/>
              <a:sym typeface="Times New Roman"/>
            </a:endParaRPr>
          </a:p>
          <a:p>
            <a:pPr marL="0" marR="0" lvl="0" indent="457200" algn="l" rtl="0">
              <a:lnSpc>
                <a:spcPct val="100000"/>
              </a:lnSpc>
              <a:spcBef>
                <a:spcPts val="0"/>
              </a:spcBef>
              <a:spcAft>
                <a:spcPts val="0"/>
              </a:spcAft>
              <a:buClr>
                <a:srgbClr val="246172"/>
              </a:buClr>
              <a:buSzPts val="2000"/>
              <a:buFont typeface="Times New Roman"/>
              <a:buNone/>
            </a:pPr>
            <a:endParaRPr sz="1100" b="0" i="0" u="none" strike="noStrike" cap="none" dirty="0">
              <a:solidFill>
                <a:srgbClr val="24617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246172"/>
              </a:buClr>
              <a:buSzPts val="2000"/>
              <a:buFont typeface="Times New Roman"/>
              <a:buNone/>
            </a:pPr>
            <a:r>
              <a:rPr lang="en-GB" sz="1900" b="1" i="0" u="none" strike="noStrike" cap="none" dirty="0">
                <a:solidFill>
                  <a:srgbClr val="246172"/>
                </a:solidFill>
                <a:latin typeface="Times New Roman"/>
                <a:ea typeface="Times New Roman"/>
                <a:cs typeface="Times New Roman"/>
                <a:sym typeface="Times New Roman"/>
              </a:rPr>
              <a:t>Under the Guidance of</a:t>
            </a:r>
            <a:endParaRPr sz="1900" b="1" i="0" u="none" strike="noStrike" cap="none" dirty="0">
              <a:solidFill>
                <a:srgbClr val="246172"/>
              </a:solidFill>
              <a:latin typeface="Times New Roman"/>
              <a:ea typeface="Times New Roman"/>
              <a:cs typeface="Times New Roman"/>
              <a:sym typeface="Times New Roman"/>
            </a:endParaRPr>
          </a:p>
          <a:p>
            <a:pPr marL="0" marR="0" lvl="0" indent="457200" algn="l" rtl="0">
              <a:lnSpc>
                <a:spcPct val="115000"/>
              </a:lnSpc>
              <a:spcBef>
                <a:spcPts val="0"/>
              </a:spcBef>
              <a:spcAft>
                <a:spcPts val="0"/>
              </a:spcAft>
              <a:buClr>
                <a:srgbClr val="000000"/>
              </a:buClr>
              <a:buSzPts val="1900"/>
              <a:buFont typeface="Arial"/>
              <a:buNone/>
            </a:pPr>
            <a:r>
              <a:rPr lang="en-GB" sz="1900" dirty="0">
                <a:solidFill>
                  <a:srgbClr val="246172"/>
                </a:solidFill>
                <a:latin typeface="Times New Roman"/>
                <a:cs typeface="Times New Roman"/>
                <a:sym typeface="Times New Roman"/>
              </a:rPr>
              <a:t>Mrs. Dipti S. Chaudhari</a:t>
            </a:r>
            <a:endParaRPr sz="13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246172"/>
              </a:buClr>
              <a:buSzPts val="2000"/>
              <a:buFont typeface="Times New Roman"/>
              <a:buNone/>
            </a:pPr>
            <a:r>
              <a:rPr lang="en-GB" sz="1800" b="0" i="0" u="none" strike="noStrike" cap="none" dirty="0">
                <a:solidFill>
                  <a:srgbClr val="246172"/>
                </a:solidFill>
                <a:latin typeface="Times New Roman"/>
                <a:ea typeface="Times New Roman"/>
                <a:cs typeface="Times New Roman"/>
                <a:sym typeface="Times New Roman"/>
              </a:rPr>
              <a:t>Pimpri Chinchwad College Of Engineering &amp; Research</a:t>
            </a:r>
            <a:r>
              <a:rPr lang="en-GB" sz="2200" b="0" i="0" u="none" strike="noStrike" cap="none" dirty="0">
                <a:solidFill>
                  <a:srgbClr val="246172"/>
                </a:solidFill>
                <a:latin typeface="Times New Roman"/>
                <a:ea typeface="Times New Roman"/>
                <a:cs typeface="Times New Roman"/>
                <a:sym typeface="Times New Roman"/>
              </a:rPr>
              <a:t> </a:t>
            </a:r>
            <a:endParaRPr sz="1600" b="0" i="0" u="none" strike="noStrike" cap="none" dirty="0">
              <a:solidFill>
                <a:srgbClr val="000000"/>
              </a:solidFill>
              <a:latin typeface="Arial"/>
              <a:ea typeface="Arial"/>
              <a:cs typeface="Arial"/>
              <a:sym typeface="Arial"/>
            </a:endParaRPr>
          </a:p>
        </p:txBody>
      </p:sp>
      <p:sp>
        <p:nvSpPr>
          <p:cNvPr id="90" name="Google Shape;90;p14"/>
          <p:cNvSpPr txBox="1"/>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1</a:t>
            </a:fld>
            <a:endParaRPr sz="1400" b="0" i="0" u="none" strike="noStrike" cap="none">
              <a:solidFill>
                <a:srgbClr val="000000"/>
              </a:solidFill>
              <a:latin typeface="Arial"/>
              <a:ea typeface="Arial"/>
              <a:cs typeface="Arial"/>
              <a:sym typeface="Arial"/>
            </a:endParaRPr>
          </a:p>
        </p:txBody>
      </p:sp>
      <p:pic>
        <p:nvPicPr>
          <p:cNvPr id="91" name="Google Shape;91;p14" descr="C:\Users\DELL\Desktop\pccoer.jpg"/>
          <p:cNvPicPr preferRelativeResize="0"/>
          <p:nvPr/>
        </p:nvPicPr>
        <p:blipFill rotWithShape="1">
          <a:blip r:embed="rId3">
            <a:alphaModFix/>
          </a:blip>
          <a:srcRect/>
          <a:stretch/>
        </p:blipFill>
        <p:spPr>
          <a:xfrm>
            <a:off x="3869125" y="24300"/>
            <a:ext cx="1371600" cy="910828"/>
          </a:xfrm>
          <a:prstGeom prst="rect">
            <a:avLst/>
          </a:prstGeom>
          <a:noFill/>
          <a:ln>
            <a:noFill/>
          </a:ln>
        </p:spPr>
      </p:pic>
      <p:sp>
        <p:nvSpPr>
          <p:cNvPr id="92" name="Google Shape;92;p14"/>
          <p:cNvSpPr txBox="1"/>
          <p:nvPr/>
        </p:nvSpPr>
        <p:spPr>
          <a:xfrm>
            <a:off x="658950" y="4768650"/>
            <a:ext cx="7826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46172"/>
              </a:buClr>
              <a:buSzPts val="1800"/>
              <a:buFont typeface="Times New Roman"/>
              <a:buNone/>
            </a:pPr>
            <a:r>
              <a:rPr lang="en-GB" sz="1800" b="1" i="0" u="none" strike="noStrike" cap="none">
                <a:solidFill>
                  <a:srgbClr val="246172"/>
                </a:solidFill>
                <a:latin typeface="Times New Roman"/>
                <a:ea typeface="Times New Roman"/>
                <a:cs typeface="Times New Roman"/>
                <a:sym typeface="Times New Roman"/>
              </a:rPr>
              <a:t>A.Y 2025-2026</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p:nvPr/>
        </p:nvSpPr>
        <p:spPr>
          <a:xfrm>
            <a:off x="0" y="938975"/>
            <a:ext cx="9144000" cy="57300"/>
          </a:xfrm>
          <a:prstGeom prst="rect">
            <a:avLst/>
          </a:prstGeom>
          <a:solidFill>
            <a:schemeClr val="accent2">
              <a:alpha val="47843"/>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8" name="Google Shape;98;p15"/>
          <p:cNvSpPr txBox="1"/>
          <p:nvPr/>
        </p:nvSpPr>
        <p:spPr>
          <a:xfrm>
            <a:off x="666600" y="996275"/>
            <a:ext cx="7810800" cy="4062000"/>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l" rtl="0">
              <a:lnSpc>
                <a:spcPct val="100000"/>
              </a:lnSpc>
              <a:spcBef>
                <a:spcPts val="0"/>
              </a:spcBef>
              <a:spcAft>
                <a:spcPts val="0"/>
              </a:spcAft>
              <a:buClr>
                <a:schemeClr val="dk1"/>
              </a:buClr>
              <a:buSzPct val="85714"/>
              <a:buFont typeface="Times New Roman"/>
              <a:buNone/>
            </a:pPr>
            <a:r>
              <a:rPr lang="en-GB" sz="2800" b="1" i="0" u="none" strike="noStrike" cap="none">
                <a:solidFill>
                  <a:schemeClr val="dk1"/>
                </a:solidFill>
                <a:latin typeface="Times New Roman"/>
                <a:ea typeface="Times New Roman"/>
                <a:cs typeface="Times New Roman"/>
                <a:sym typeface="Times New Roman"/>
              </a:rPr>
              <a:t>   </a:t>
            </a:r>
            <a:r>
              <a:rPr lang="en-GB" sz="2500" b="1" i="0" u="none" strike="noStrike" cap="none">
                <a:solidFill>
                  <a:schemeClr val="dk1"/>
                </a:solidFill>
                <a:latin typeface="Times New Roman"/>
                <a:ea typeface="Times New Roman"/>
                <a:cs typeface="Times New Roman"/>
                <a:sym typeface="Times New Roman"/>
              </a:rPr>
              <a:t> OUTLINE</a:t>
            </a:r>
            <a:endParaRPr sz="1800" b="0" i="0" u="none" strike="noStrike" cap="none">
              <a:solidFill>
                <a:srgbClr val="000000"/>
              </a:solidFill>
              <a:latin typeface="Times New Roman"/>
              <a:ea typeface="Times New Roman"/>
              <a:cs typeface="Times New Roman"/>
              <a:sym typeface="Times New Roman"/>
            </a:endParaRPr>
          </a:p>
          <a:p>
            <a:pPr marL="148590" marR="0" lvl="0" indent="0" algn="l" rtl="0">
              <a:lnSpc>
                <a:spcPct val="115000"/>
              </a:lnSpc>
              <a:spcBef>
                <a:spcPts val="0"/>
              </a:spcBef>
              <a:spcAft>
                <a:spcPts val="0"/>
              </a:spcAft>
              <a:buClr>
                <a:srgbClr val="000000"/>
              </a:buClr>
              <a:buSzPct val="100000"/>
              <a:buFont typeface="Arial"/>
              <a:buNone/>
            </a:pPr>
            <a:endParaRPr sz="1800" b="0" i="0" u="none" strike="noStrike" cap="none">
              <a:solidFill>
                <a:srgbClr val="000000"/>
              </a:solidFill>
              <a:latin typeface="Times New Roman"/>
              <a:ea typeface="Times New Roman"/>
              <a:cs typeface="Times New Roman"/>
              <a:sym typeface="Times New Roman"/>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Challenges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Objectives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Problem Statement</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Solution Proposed</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Algorithm/Methods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Software Development Process model</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Requirements Analysis and SRS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State transition diagram</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Interface between the modules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Mathematical model</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Architecture diagram </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901829"/>
                </a:solidFill>
                <a:latin typeface="Times New Roman"/>
                <a:ea typeface="Times New Roman"/>
                <a:cs typeface="Times New Roman"/>
                <a:sym typeface="Times New Roman"/>
              </a:rPr>
              <a:t>Deployment diagram</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Results</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Conclusion</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Future Work</a:t>
            </a:r>
            <a:endParaRPr sz="1400" b="0" i="0" u="none" strike="noStrike" cap="none">
              <a:solidFill>
                <a:srgbClr val="000000"/>
              </a:solidFill>
              <a:latin typeface="Arial"/>
              <a:ea typeface="Arial"/>
              <a:cs typeface="Arial"/>
              <a:sym typeface="Arial"/>
            </a:endParaRPr>
          </a:p>
          <a:p>
            <a:pPr marL="457200" marR="0" lvl="0" indent="-308610" algn="l" rtl="0">
              <a:lnSpc>
                <a:spcPct val="115000"/>
              </a:lnSpc>
              <a:spcBef>
                <a:spcPts val="0"/>
              </a:spcBef>
              <a:spcAft>
                <a:spcPts val="0"/>
              </a:spcAft>
              <a:buClr>
                <a:srgbClr val="000000"/>
              </a:buClr>
              <a:buSzPct val="100000"/>
              <a:buFont typeface="Times New Roman"/>
              <a:buChar char="➔"/>
            </a:pPr>
            <a:r>
              <a:rPr lang="en-GB" sz="1800" b="0" i="0" u="none" strike="noStrike" cap="none">
                <a:solidFill>
                  <a:srgbClr val="000000"/>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457200" marR="0" lvl="0" indent="-228600" algn="l" rtl="0">
              <a:lnSpc>
                <a:spcPct val="115000"/>
              </a:lnSpc>
              <a:spcBef>
                <a:spcPts val="0"/>
              </a:spcBef>
              <a:spcAft>
                <a:spcPts val="0"/>
              </a:spcAft>
              <a:buClr>
                <a:srgbClr val="000000"/>
              </a:buClr>
              <a:buSzPct val="100000"/>
              <a:buFont typeface="Times New Roman"/>
              <a:buNone/>
            </a:pPr>
            <a:endParaRPr sz="1800" b="0" i="0" u="none" strike="noStrike" cap="none">
              <a:solidFill>
                <a:srgbClr val="000000"/>
              </a:solidFill>
              <a:latin typeface="Times New Roman"/>
              <a:ea typeface="Times New Roman"/>
              <a:cs typeface="Times New Roman"/>
              <a:sym typeface="Times New Roman"/>
            </a:endParaRPr>
          </a:p>
        </p:txBody>
      </p:sp>
      <p:sp>
        <p:nvSpPr>
          <p:cNvPr id="99" name="Google Shape;99;p15"/>
          <p:cNvSpPr txBox="1"/>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2</a:t>
            </a:fld>
            <a:endParaRPr sz="1400" b="0" i="0" u="none" strike="noStrike" cap="none">
              <a:solidFill>
                <a:srgbClr val="000000"/>
              </a:solidFill>
              <a:latin typeface="Arial"/>
              <a:ea typeface="Arial"/>
              <a:cs typeface="Arial"/>
              <a:sym typeface="Arial"/>
            </a:endParaRPr>
          </a:p>
        </p:txBody>
      </p:sp>
      <p:pic>
        <p:nvPicPr>
          <p:cNvPr id="100" name="Google Shape;100;p15"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 name="Google Shape;106;p16"/>
          <p:cNvSpPr txBox="1"/>
          <p:nvPr/>
        </p:nvSpPr>
        <p:spPr>
          <a:xfrm>
            <a:off x="124690" y="1026650"/>
            <a:ext cx="8894620" cy="3865017"/>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INTRODUCTION:</a:t>
            </a:r>
            <a:endParaRPr sz="1400" b="0" i="0" u="none" strike="noStrike" cap="none" dirty="0">
              <a:solidFill>
                <a:schemeClr val="dk1"/>
              </a:solidFill>
              <a:latin typeface="Times New Roman"/>
              <a:ea typeface="Times New Roman"/>
              <a:cs typeface="Times New Roman"/>
              <a:sym typeface="Times New Roman"/>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 geolocation is the process of estimating the geographical location from an uploaded image.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uses the </a:t>
            </a:r>
            <a:r>
              <a:rPr lang="en-IN" sz="2000" b="1" dirty="0">
                <a:latin typeface="Times New Roman" panose="02020603050405020304" pitchFamily="18" charset="0"/>
                <a:cs typeface="Times New Roman" panose="02020603050405020304" pitchFamily="18" charset="0"/>
              </a:rPr>
              <a:t>Gemini 2.5 Flash</a:t>
            </a:r>
            <a:r>
              <a:rPr lang="en-IN" sz="2000" dirty="0">
                <a:latin typeface="Times New Roman" panose="02020603050405020304" pitchFamily="18" charset="0"/>
                <a:cs typeface="Times New Roman" panose="02020603050405020304" pitchFamily="18" charset="0"/>
              </a:rPr>
              <a:t> multimodal model for intelligent image analysis.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landmarks,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scene context, and predicts the probable location.</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evaluates potential hazards and classifies the risk level of the image.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provides actions such as </a:t>
            </a:r>
            <a:r>
              <a:rPr lang="en-IN" sz="2000" b="1" dirty="0">
                <a:latin typeface="Times New Roman" panose="02020603050405020304" pitchFamily="18" charset="0"/>
                <a:cs typeface="Times New Roman" panose="02020603050405020304" pitchFamily="18" charset="0"/>
              </a:rPr>
              <a:t>Learn More</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Open Map</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Report Incident</a:t>
            </a:r>
            <a:r>
              <a:rPr lang="en-IN" sz="2000" dirty="0">
                <a:latin typeface="Times New Roman" panose="02020603050405020304" pitchFamily="18" charset="0"/>
                <a:cs typeface="Times New Roman" panose="02020603050405020304" pitchFamily="18" charset="0"/>
              </a:rPr>
              <a:t> to assist users.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 analysis results and user actions are securely stored for future reference and auditing.</a:t>
            </a: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dirty="0">
              <a:solidFill>
                <a:schemeClr val="dk1"/>
              </a:solidFill>
              <a:latin typeface="Times New Roman"/>
              <a:ea typeface="Times New Roman"/>
              <a:cs typeface="Times New Roman"/>
              <a:sym typeface="Times New Roman"/>
            </a:endParaRPr>
          </a:p>
        </p:txBody>
      </p:sp>
      <p:sp>
        <p:nvSpPr>
          <p:cNvPr id="107" name="Google Shape;107;p16"/>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3</a:t>
            </a:fld>
            <a:endParaRPr sz="1400" b="0" i="0" u="none" strike="noStrike" cap="none">
              <a:solidFill>
                <a:srgbClr val="000000"/>
              </a:solidFill>
              <a:latin typeface="Arial"/>
              <a:ea typeface="Arial"/>
              <a:cs typeface="Arial"/>
              <a:sym typeface="Arial"/>
            </a:endParaRPr>
          </a:p>
        </p:txBody>
      </p:sp>
      <p:pic>
        <p:nvPicPr>
          <p:cNvPr id="108" name="Google Shape;108;p16"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p:nvPr/>
        </p:nvSpPr>
        <p:spPr>
          <a:xfrm>
            <a:off x="0" y="914400"/>
            <a:ext cx="9144000" cy="57000"/>
          </a:xfrm>
          <a:prstGeom prst="rect">
            <a:avLst/>
          </a:prstGeom>
          <a:solidFill>
            <a:schemeClr val="accent2">
              <a:alpha val="48240"/>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17"/>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pic>
        <p:nvPicPr>
          <p:cNvPr id="115" name="Google Shape;115;p17"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
        <p:nvSpPr>
          <p:cNvPr id="116" name="Google Shape;116;p17"/>
          <p:cNvSpPr txBox="1"/>
          <p:nvPr/>
        </p:nvSpPr>
        <p:spPr>
          <a:xfrm>
            <a:off x="124640" y="910825"/>
            <a:ext cx="8894700" cy="3864900"/>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CHALLENGES:</a:t>
            </a:r>
            <a:endParaRPr sz="1200" i="0" u="none" strike="noStrike" cap="none" dirty="0">
              <a:solidFill>
                <a:schemeClr val="dk1"/>
              </a:solidFill>
              <a:latin typeface="Times New Roman"/>
              <a:ea typeface="Times New Roman"/>
              <a:cs typeface="Times New Roman"/>
              <a:sym typeface="Times New Roman"/>
            </a:endParaRPr>
          </a:p>
          <a:p>
            <a:endParaRPr lang="en-IN" sz="1200" b="1" dirty="0"/>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Accurately predicting location from images with limited or unclear visual landmarks.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Handling variations in image quality, lighting conditions, and camera angles.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Reducing incorrect location predictions and false hazard classifications.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Ensuring consistent and reliable AI-generated responses.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Maintaining secure storage of user data and analysis results.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Providing fast response times while preserving prediction accuracy.</a:t>
            </a:r>
          </a:p>
          <a:p>
            <a:pPr marL="114300" marR="0" lvl="0" indent="0" algn="just" rtl="0">
              <a:lnSpc>
                <a:spcPct val="115000"/>
              </a:lnSpc>
              <a:spcBef>
                <a:spcPts val="1200"/>
              </a:spcBef>
              <a:spcAft>
                <a:spcPts val="0"/>
              </a:spcAft>
              <a:buClr>
                <a:srgbClr val="000000"/>
              </a:buClr>
              <a:buSzPts val="1200"/>
              <a:buFont typeface="Arial"/>
              <a:buNone/>
            </a:pPr>
            <a:endParaRPr sz="120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2" name="Google Shape;122;p18"/>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pic>
        <p:nvPicPr>
          <p:cNvPr id="123" name="Google Shape;123;p18"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
        <p:nvSpPr>
          <p:cNvPr id="124" name="Google Shape;124;p18"/>
          <p:cNvSpPr txBox="1"/>
          <p:nvPr/>
        </p:nvSpPr>
        <p:spPr>
          <a:xfrm>
            <a:off x="124690" y="1026650"/>
            <a:ext cx="8894620" cy="3865017"/>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OBJECTIVE:</a:t>
            </a:r>
            <a:endParaRPr sz="1400" b="0" i="0" u="none" strike="noStrike" cap="none" dirty="0">
              <a:solidFill>
                <a:schemeClr val="dk1"/>
              </a:solidFill>
              <a:latin typeface="Times New Roman"/>
              <a:ea typeface="Times New Roman"/>
              <a:cs typeface="Times New Roman"/>
              <a:sym typeface="Times New Roman"/>
            </a:endParaRPr>
          </a:p>
          <a:p>
            <a:pPr marL="342900" lvl="0" indent="-342900" algn="just">
              <a:lnSpc>
                <a:spcPct val="150000"/>
              </a:lnSpc>
              <a:buSzPts val="1800"/>
              <a:buFont typeface="Arial"/>
              <a:buAutoNum type="arabicPeriod"/>
            </a:pPr>
            <a:r>
              <a:rPr lang="en-IN" sz="1800" dirty="0">
                <a:latin typeface="Times New Roman" panose="02020603050405020304" pitchFamily="18" charset="0"/>
                <a:cs typeface="Times New Roman" panose="02020603050405020304" pitchFamily="18" charset="0"/>
              </a:rPr>
              <a:t>To integrate a vision-capable multimodal model for structured image analysis and location estimation</a:t>
            </a:r>
            <a:endParaRPr lang="en-US"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342900" lvl="0" indent="-342900" algn="just">
              <a:lnSpc>
                <a:spcPct val="150000"/>
              </a:lnSpc>
              <a:buSzPts val="1800"/>
              <a:buFont typeface="Arial"/>
              <a:buAutoNum type="arabicPeriod"/>
            </a:pPr>
            <a:r>
              <a:rPr lang="en-IN" sz="1800" dirty="0">
                <a:latin typeface="Times New Roman" panose="02020603050405020304" pitchFamily="18" charset="0"/>
                <a:cs typeface="Times New Roman" panose="02020603050405020304" pitchFamily="18" charset="0"/>
              </a:rPr>
              <a:t>To implement deterministic risk-to-action mapping with human-confirmed reporting for safety-critical scenes. </a:t>
            </a:r>
            <a:endParaRPr lang="en-US"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342900" lvl="0" indent="-342900" algn="just">
              <a:lnSpc>
                <a:spcPct val="150000"/>
              </a:lnSpc>
              <a:buSzPts val="1800"/>
              <a:buFont typeface="Arial"/>
              <a:buAutoNum type="arabicPeriod"/>
            </a:pPr>
            <a:r>
              <a:rPr lang="en-IN" sz="1800" dirty="0">
                <a:latin typeface="Times New Roman" panose="02020603050405020304" pitchFamily="18" charset="0"/>
                <a:cs typeface="Times New Roman" panose="02020603050405020304" pitchFamily="18" charset="0"/>
              </a:rPr>
              <a:t>To persist sessions, model outputs, actions, and incidents for audit and evaluation. </a:t>
            </a:r>
            <a:endParaRPr lang="en-US"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0" name="Google Shape;130;p19"/>
          <p:cNvSpPr txBox="1"/>
          <p:nvPr/>
        </p:nvSpPr>
        <p:spPr>
          <a:xfrm>
            <a:off x="124690" y="1026650"/>
            <a:ext cx="8894620" cy="3865017"/>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a:solidFill>
                  <a:schemeClr val="dk1"/>
                </a:solidFill>
                <a:latin typeface="Times New Roman"/>
                <a:ea typeface="Times New Roman"/>
                <a:cs typeface="Times New Roman"/>
                <a:sym typeface="Times New Roman"/>
              </a:rPr>
              <a:t>LITERATURE SURVEY:</a:t>
            </a:r>
            <a:endParaRPr sz="1400" b="0" i="0" u="none" strike="noStrike" cap="none">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a:solidFill>
                <a:schemeClr val="dk1"/>
              </a:solidFill>
              <a:latin typeface="Times New Roman"/>
              <a:ea typeface="Times New Roman"/>
              <a:cs typeface="Times New Roman"/>
              <a:sym typeface="Times New Roman"/>
            </a:endParaRPr>
          </a:p>
        </p:txBody>
      </p:sp>
      <p:sp>
        <p:nvSpPr>
          <p:cNvPr id="131" name="Google Shape;131;p19"/>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6</a:t>
            </a:fld>
            <a:endParaRPr sz="1400" b="0" i="0" u="none" strike="noStrike" cap="none">
              <a:solidFill>
                <a:srgbClr val="000000"/>
              </a:solidFill>
              <a:latin typeface="Arial"/>
              <a:ea typeface="Arial"/>
              <a:cs typeface="Arial"/>
              <a:sym typeface="Arial"/>
            </a:endParaRPr>
          </a:p>
        </p:txBody>
      </p:sp>
      <p:pic>
        <p:nvPicPr>
          <p:cNvPr id="132" name="Google Shape;132;p19"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graphicFrame>
        <p:nvGraphicFramePr>
          <p:cNvPr id="133" name="Google Shape;133;p19"/>
          <p:cNvGraphicFramePr/>
          <p:nvPr>
            <p:extLst>
              <p:ext uri="{D42A27DB-BD31-4B8C-83A1-F6EECF244321}">
                <p14:modId xmlns:p14="http://schemas.microsoft.com/office/powerpoint/2010/main" val="2157723324"/>
              </p:ext>
            </p:extLst>
          </p:nvPr>
        </p:nvGraphicFramePr>
        <p:xfrm>
          <a:off x="297362" y="1684054"/>
          <a:ext cx="8721900" cy="2910750"/>
        </p:xfrm>
        <a:graphic>
          <a:graphicData uri="http://schemas.openxmlformats.org/drawingml/2006/table">
            <a:tbl>
              <a:tblPr firstRow="1" bandRow="1">
                <a:noFill/>
                <a:tableStyleId>{49F84ED3-93C1-41D6-B369-CD37911B0747}</a:tableStyleId>
              </a:tblPr>
              <a:tblGrid>
                <a:gridCol w="2180475">
                  <a:extLst>
                    <a:ext uri="{9D8B030D-6E8A-4147-A177-3AD203B41FA5}">
                      <a16:colId xmlns:a16="http://schemas.microsoft.com/office/drawing/2014/main" val="20000"/>
                    </a:ext>
                  </a:extLst>
                </a:gridCol>
                <a:gridCol w="2180475">
                  <a:extLst>
                    <a:ext uri="{9D8B030D-6E8A-4147-A177-3AD203B41FA5}">
                      <a16:colId xmlns:a16="http://schemas.microsoft.com/office/drawing/2014/main" val="20001"/>
                    </a:ext>
                  </a:extLst>
                </a:gridCol>
                <a:gridCol w="2180475">
                  <a:extLst>
                    <a:ext uri="{9D8B030D-6E8A-4147-A177-3AD203B41FA5}">
                      <a16:colId xmlns:a16="http://schemas.microsoft.com/office/drawing/2014/main" val="20002"/>
                    </a:ext>
                  </a:extLst>
                </a:gridCol>
                <a:gridCol w="2180475">
                  <a:extLst>
                    <a:ext uri="{9D8B030D-6E8A-4147-A177-3AD203B41FA5}">
                      <a16:colId xmlns:a16="http://schemas.microsoft.com/office/drawing/2014/main" val="20003"/>
                    </a:ext>
                  </a:extLst>
                </a:gridCol>
              </a:tblGrid>
              <a:tr h="382650">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AUTHOR</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TITLE</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METHODOLOGY</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LIMITATIONS</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87625">
                <a:tc>
                  <a:txBody>
                    <a:bodyPr/>
                    <a:lstStyle/>
                    <a:p>
                      <a:pPr marL="0" marR="0" lvl="0" indent="0" algn="l" rtl="0">
                        <a:lnSpc>
                          <a:spcPct val="100000"/>
                        </a:lnSpc>
                        <a:spcBef>
                          <a:spcPts val="0"/>
                        </a:spcBef>
                        <a:spcAft>
                          <a:spcPts val="0"/>
                        </a:spcAft>
                        <a:buClr>
                          <a:schemeClr val="dk1"/>
                        </a:buClr>
                        <a:buSzPts val="1100"/>
                        <a:buFont typeface="Arial"/>
                        <a:buNone/>
                      </a:pPr>
                      <a:r>
                        <a:rPr lang="en-IN" dirty="0"/>
                        <a:t>Gemini Team, 2024 </a:t>
                      </a:r>
                    </a:p>
                    <a:p>
                      <a:pPr marL="0" marR="0" lvl="0" indent="0" algn="l" rtl="0">
                        <a:lnSpc>
                          <a:spcPct val="100000"/>
                        </a:lnSpc>
                        <a:spcBef>
                          <a:spcPts val="0"/>
                        </a:spcBef>
                        <a:spcAft>
                          <a:spcPts val="0"/>
                        </a:spcAft>
                        <a:buClr>
                          <a:schemeClr val="dk1"/>
                        </a:buClr>
                        <a:buSzPts val="1100"/>
                        <a:buFont typeface="Arial"/>
                        <a:buNone/>
                      </a:pPr>
                      <a:r>
                        <a:rPr lang="en-IN" dirty="0" err="1"/>
                        <a:t>arXiv</a:t>
                      </a:r>
                      <a:endParaRPr lang="en-GB" sz="14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IN" dirty="0"/>
                        <a:t>Gemini: A Family of Highly Capable Multimodal Models </a:t>
                      </a:r>
                      <a:endParaRPr lang="en-GB"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Describes a family of multimodal models for text, image, and reasoning tasks</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Model capability alone does not define auditable incident workflow or local system policy.</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87625">
                <a:tc>
                  <a:txBody>
                    <a:bodyPr/>
                    <a:lstStyle/>
                    <a:p>
                      <a:pPr marL="0" marR="0" lvl="0" indent="0" algn="l" rtl="0">
                        <a:lnSpc>
                          <a:spcPct val="100000"/>
                        </a:lnSpc>
                        <a:spcBef>
                          <a:spcPts val="0"/>
                        </a:spcBef>
                        <a:spcAft>
                          <a:spcPts val="0"/>
                        </a:spcAft>
                        <a:buClr>
                          <a:schemeClr val="dk1"/>
                        </a:buClr>
                        <a:buSzPts val="1100"/>
                        <a:buFont typeface="Arial"/>
                        <a:buNone/>
                      </a:pPr>
                      <a:r>
                        <a:rPr lang="en-IN" dirty="0"/>
                        <a:t>Liu et al., 2024</a:t>
                      </a:r>
                    </a:p>
                    <a:p>
                      <a:pPr marL="0" marR="0" lvl="0" indent="0" algn="l" rtl="0">
                        <a:lnSpc>
                          <a:spcPct val="100000"/>
                        </a:lnSpc>
                        <a:spcBef>
                          <a:spcPts val="0"/>
                        </a:spcBef>
                        <a:spcAft>
                          <a:spcPts val="0"/>
                        </a:spcAft>
                        <a:buClr>
                          <a:schemeClr val="dk1"/>
                        </a:buClr>
                        <a:buSzPts val="1100"/>
                        <a:buFont typeface="Arial"/>
                        <a:buNone/>
                      </a:pPr>
                      <a:r>
                        <a:rPr lang="en-IN" dirty="0" err="1"/>
                        <a:t>NeurIPS</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IN" dirty="0"/>
                        <a:t>Visual Instruction Tuning</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Trains </a:t>
                      </a:r>
                      <a:r>
                        <a:rPr lang="en-IN" dirty="0" err="1"/>
                        <a:t>instructionfollowing</a:t>
                      </a:r>
                      <a:r>
                        <a:rPr lang="en-IN" dirty="0"/>
                        <a:t> </a:t>
                      </a:r>
                      <a:r>
                        <a:rPr lang="en-IN" dirty="0" err="1"/>
                        <a:t>visionlanguage</a:t>
                      </a:r>
                      <a:r>
                        <a:rPr lang="en-IN" dirty="0"/>
                        <a:t> assistants. </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General assistant </a:t>
                      </a:r>
                      <a:r>
                        <a:rPr lang="en-IN" dirty="0" err="1"/>
                        <a:t>behavior</a:t>
                      </a:r>
                      <a:r>
                        <a:rPr lang="en-IN" dirty="0"/>
                        <a:t> still requires </a:t>
                      </a:r>
                      <a:r>
                        <a:rPr lang="en-IN" dirty="0" err="1"/>
                        <a:t>projectspecific</a:t>
                      </a:r>
                      <a:r>
                        <a:rPr lang="en-IN" dirty="0"/>
                        <a:t> validation and policy control.</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0"/>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 name="Google Shape;139;p20"/>
          <p:cNvSpPr txBox="1"/>
          <p:nvPr/>
        </p:nvSpPr>
        <p:spPr>
          <a:xfrm>
            <a:off x="124690" y="1026650"/>
            <a:ext cx="8894620" cy="3865017"/>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Clr>
                <a:srgbClr val="000000"/>
              </a:buClr>
              <a:buSzPts val="3700"/>
              <a:buFont typeface="Arial"/>
              <a:buNone/>
            </a:pPr>
            <a:endParaRPr sz="1400" b="1" i="0" u="none" strike="noStrike" cap="none">
              <a:solidFill>
                <a:schemeClr val="dk1"/>
              </a:solidFill>
              <a:latin typeface="Times New Roman"/>
              <a:ea typeface="Times New Roman"/>
              <a:cs typeface="Times New Roman"/>
              <a:sym typeface="Times New Roman"/>
            </a:endParaRPr>
          </a:p>
        </p:txBody>
      </p:sp>
      <p:sp>
        <p:nvSpPr>
          <p:cNvPr id="140" name="Google Shape;140;p20"/>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7</a:t>
            </a:fld>
            <a:endParaRPr sz="1400" b="0" i="0" u="none" strike="noStrike" cap="none">
              <a:solidFill>
                <a:srgbClr val="000000"/>
              </a:solidFill>
              <a:latin typeface="Arial"/>
              <a:ea typeface="Arial"/>
              <a:cs typeface="Arial"/>
              <a:sym typeface="Arial"/>
            </a:endParaRPr>
          </a:p>
        </p:txBody>
      </p:sp>
      <p:pic>
        <p:nvPicPr>
          <p:cNvPr id="141" name="Google Shape;141;p20"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graphicFrame>
        <p:nvGraphicFramePr>
          <p:cNvPr id="142" name="Google Shape;142;p20"/>
          <p:cNvGraphicFramePr/>
          <p:nvPr>
            <p:extLst>
              <p:ext uri="{D42A27DB-BD31-4B8C-83A1-F6EECF244321}">
                <p14:modId xmlns:p14="http://schemas.microsoft.com/office/powerpoint/2010/main" val="3979383662"/>
              </p:ext>
            </p:extLst>
          </p:nvPr>
        </p:nvGraphicFramePr>
        <p:xfrm>
          <a:off x="124690" y="1144859"/>
          <a:ext cx="8894600" cy="3642450"/>
        </p:xfrm>
        <a:graphic>
          <a:graphicData uri="http://schemas.openxmlformats.org/drawingml/2006/table">
            <a:tbl>
              <a:tblPr firstRow="1" bandRow="1">
                <a:noFill/>
                <a:tableStyleId>{49F84ED3-93C1-41D6-B369-CD37911B0747}</a:tableStyleId>
              </a:tblPr>
              <a:tblGrid>
                <a:gridCol w="2223650">
                  <a:extLst>
                    <a:ext uri="{9D8B030D-6E8A-4147-A177-3AD203B41FA5}">
                      <a16:colId xmlns:a16="http://schemas.microsoft.com/office/drawing/2014/main" val="20000"/>
                    </a:ext>
                  </a:extLst>
                </a:gridCol>
                <a:gridCol w="2223650">
                  <a:extLst>
                    <a:ext uri="{9D8B030D-6E8A-4147-A177-3AD203B41FA5}">
                      <a16:colId xmlns:a16="http://schemas.microsoft.com/office/drawing/2014/main" val="20001"/>
                    </a:ext>
                  </a:extLst>
                </a:gridCol>
                <a:gridCol w="2223650">
                  <a:extLst>
                    <a:ext uri="{9D8B030D-6E8A-4147-A177-3AD203B41FA5}">
                      <a16:colId xmlns:a16="http://schemas.microsoft.com/office/drawing/2014/main" val="20002"/>
                    </a:ext>
                  </a:extLst>
                </a:gridCol>
                <a:gridCol w="2223650">
                  <a:extLst>
                    <a:ext uri="{9D8B030D-6E8A-4147-A177-3AD203B41FA5}">
                      <a16:colId xmlns:a16="http://schemas.microsoft.com/office/drawing/2014/main" val="20003"/>
                    </a:ext>
                  </a:extLst>
                </a:gridCol>
              </a:tblGrid>
              <a:tr h="336125">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AUTHOR</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TITLE</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METHODOLOGY</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LIMITATIONS</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615500">
                <a:tc>
                  <a:txBody>
                    <a:bodyPr/>
                    <a:lstStyle/>
                    <a:p>
                      <a:pPr marL="0" marR="0" lvl="0" indent="0" algn="l" rtl="0">
                        <a:lnSpc>
                          <a:spcPct val="100000"/>
                        </a:lnSpc>
                        <a:spcBef>
                          <a:spcPts val="0"/>
                        </a:spcBef>
                        <a:spcAft>
                          <a:spcPts val="0"/>
                        </a:spcAft>
                        <a:buClr>
                          <a:srgbClr val="000000"/>
                        </a:buClr>
                        <a:buSzPts val="1400"/>
                        <a:buFont typeface="Arial"/>
                        <a:buNone/>
                      </a:pPr>
                      <a:r>
                        <a:rPr lang="en-IN" dirty="0"/>
                        <a:t>Haas, </a:t>
                      </a:r>
                      <a:r>
                        <a:rPr lang="en-IN" dirty="0" err="1"/>
                        <a:t>Skreta</a:t>
                      </a:r>
                      <a:r>
                        <a:rPr lang="en-IN" dirty="0"/>
                        <a:t>, Alberti and Finn, 2024 </a:t>
                      </a:r>
                    </a:p>
                    <a:p>
                      <a:pPr marL="0" marR="0" lvl="0" indent="0" algn="l" rtl="0">
                        <a:lnSpc>
                          <a:spcPct val="100000"/>
                        </a:lnSpc>
                        <a:spcBef>
                          <a:spcPts val="0"/>
                        </a:spcBef>
                        <a:spcAft>
                          <a:spcPts val="0"/>
                        </a:spcAft>
                        <a:buClr>
                          <a:srgbClr val="000000"/>
                        </a:buClr>
                        <a:buSzPts val="1400"/>
                        <a:buFont typeface="Arial"/>
                        <a:buNone/>
                      </a:pPr>
                      <a:r>
                        <a:rPr lang="en-IN" dirty="0"/>
                        <a:t>CVPR</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PIGEON: Predicting Image Geolocations </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Multimodal geolocation using foundation model reasoning. </a:t>
                      </a:r>
                      <a:endParaRPr sz="15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Geolocation performance is emphasized more than operational user actions. </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615500">
                <a:tc>
                  <a:txBody>
                    <a:bodyPr/>
                    <a:lstStyle/>
                    <a:p>
                      <a:pPr marL="0" marR="0" lvl="0" indent="0" algn="l" rtl="0">
                        <a:lnSpc>
                          <a:spcPct val="100000"/>
                        </a:lnSpc>
                        <a:spcBef>
                          <a:spcPts val="0"/>
                        </a:spcBef>
                        <a:spcAft>
                          <a:spcPts val="0"/>
                        </a:spcAft>
                        <a:buClr>
                          <a:srgbClr val="000000"/>
                        </a:buClr>
                        <a:buSzPts val="1400"/>
                        <a:buFont typeface="Arial"/>
                        <a:buNone/>
                      </a:pPr>
                      <a:r>
                        <a:rPr lang="en-IN" dirty="0"/>
                        <a:t>Zhou et al., 2024</a:t>
                      </a:r>
                    </a:p>
                    <a:p>
                      <a:pPr marL="0" marR="0" lvl="0" indent="0" algn="l" rtl="0">
                        <a:lnSpc>
                          <a:spcPct val="100000"/>
                        </a:lnSpc>
                        <a:spcBef>
                          <a:spcPts val="0"/>
                        </a:spcBef>
                        <a:spcAft>
                          <a:spcPts val="0"/>
                        </a:spcAft>
                        <a:buClr>
                          <a:srgbClr val="000000"/>
                        </a:buClr>
                        <a:buSzPts val="1400"/>
                        <a:buFont typeface="Arial"/>
                        <a:buNone/>
                      </a:pPr>
                      <a:r>
                        <a:rPr lang="en-IN" dirty="0"/>
                        <a:t>SIGIR</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Img2Loc: Revisiting Image </a:t>
                      </a:r>
                      <a:r>
                        <a:rPr lang="en-IN" dirty="0" err="1"/>
                        <a:t>Geolocalization</a:t>
                      </a:r>
                      <a:r>
                        <a:rPr lang="en-IN" dirty="0"/>
                        <a:t> using Multi-modality Foundation Models and Image-based Retrieval-Augmented Generation </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Foundation model plus </a:t>
                      </a:r>
                      <a:r>
                        <a:rPr lang="en-IN" dirty="0" err="1"/>
                        <a:t>retrievalaugmented</a:t>
                      </a:r>
                      <a:r>
                        <a:rPr lang="en-IN" dirty="0"/>
                        <a:t> image geolocation</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Retrieval grounding is useful, but incident logging and hazard response are outside scope</a:t>
                      </a:r>
                      <a:endParaRPr sz="140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8" name="Google Shape;148;p21"/>
          <p:cNvSpPr txBox="1"/>
          <p:nvPr/>
        </p:nvSpPr>
        <p:spPr>
          <a:xfrm>
            <a:off x="57783" y="902246"/>
            <a:ext cx="8894620" cy="3865017"/>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a:solidFill>
                <a:schemeClr val="dk1"/>
              </a:solidFill>
              <a:latin typeface="Times New Roman"/>
              <a:ea typeface="Times New Roman"/>
              <a:cs typeface="Times New Roman"/>
              <a:sym typeface="Times New Roman"/>
            </a:endParaRPr>
          </a:p>
        </p:txBody>
      </p:sp>
      <p:sp>
        <p:nvSpPr>
          <p:cNvPr id="149" name="Google Shape;149;p21"/>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8</a:t>
            </a:fld>
            <a:endParaRPr sz="1400" b="0" i="0" u="none" strike="noStrike" cap="none">
              <a:solidFill>
                <a:srgbClr val="000000"/>
              </a:solidFill>
              <a:latin typeface="Arial"/>
              <a:ea typeface="Arial"/>
              <a:cs typeface="Arial"/>
              <a:sym typeface="Arial"/>
            </a:endParaRPr>
          </a:p>
        </p:txBody>
      </p:sp>
      <p:pic>
        <p:nvPicPr>
          <p:cNvPr id="150" name="Google Shape;150;p21"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graphicFrame>
        <p:nvGraphicFramePr>
          <p:cNvPr id="151" name="Google Shape;151;p21"/>
          <p:cNvGraphicFramePr/>
          <p:nvPr>
            <p:extLst>
              <p:ext uri="{D42A27DB-BD31-4B8C-83A1-F6EECF244321}">
                <p14:modId xmlns:p14="http://schemas.microsoft.com/office/powerpoint/2010/main" val="2969964499"/>
              </p:ext>
            </p:extLst>
          </p:nvPr>
        </p:nvGraphicFramePr>
        <p:xfrm>
          <a:off x="249380" y="1193670"/>
          <a:ext cx="8703025" cy="3876675"/>
        </p:xfrm>
        <a:graphic>
          <a:graphicData uri="http://schemas.openxmlformats.org/drawingml/2006/table">
            <a:tbl>
              <a:tblPr firstRow="1" bandRow="1">
                <a:noFill/>
                <a:tableStyleId>{49F84ED3-93C1-41D6-B369-CD37911B0747}</a:tableStyleId>
              </a:tblPr>
              <a:tblGrid>
                <a:gridCol w="1906525">
                  <a:extLst>
                    <a:ext uri="{9D8B030D-6E8A-4147-A177-3AD203B41FA5}">
                      <a16:colId xmlns:a16="http://schemas.microsoft.com/office/drawing/2014/main" val="20000"/>
                    </a:ext>
                  </a:extLst>
                </a:gridCol>
                <a:gridCol w="2096425">
                  <a:extLst>
                    <a:ext uri="{9D8B030D-6E8A-4147-A177-3AD203B41FA5}">
                      <a16:colId xmlns:a16="http://schemas.microsoft.com/office/drawing/2014/main" val="20001"/>
                    </a:ext>
                  </a:extLst>
                </a:gridCol>
                <a:gridCol w="2524325">
                  <a:extLst>
                    <a:ext uri="{9D8B030D-6E8A-4147-A177-3AD203B41FA5}">
                      <a16:colId xmlns:a16="http://schemas.microsoft.com/office/drawing/2014/main" val="20002"/>
                    </a:ext>
                  </a:extLst>
                </a:gridCol>
                <a:gridCol w="2175750">
                  <a:extLst>
                    <a:ext uri="{9D8B030D-6E8A-4147-A177-3AD203B41FA5}">
                      <a16:colId xmlns:a16="http://schemas.microsoft.com/office/drawing/2014/main" val="20003"/>
                    </a:ext>
                  </a:extLst>
                </a:gridCol>
              </a:tblGrid>
              <a:tr h="306675">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AUTHOR</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TITLE</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METHODOLOGY</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Times New Roman"/>
                          <a:ea typeface="Times New Roman"/>
                          <a:cs typeface="Times New Roman"/>
                          <a:sym typeface="Times New Roman"/>
                        </a:rPr>
                        <a:t>LIMITATIONS</a:t>
                      </a:r>
                      <a:endParaRPr sz="1500" u="none" strike="noStrike" cap="none">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628950">
                <a:tc>
                  <a:txBody>
                    <a:bodyPr/>
                    <a:lstStyle/>
                    <a:p>
                      <a:pPr marL="0" marR="0" lvl="0" indent="0" algn="l" rtl="0">
                        <a:lnSpc>
                          <a:spcPct val="100000"/>
                        </a:lnSpc>
                        <a:spcBef>
                          <a:spcPts val="0"/>
                        </a:spcBef>
                        <a:spcAft>
                          <a:spcPts val="0"/>
                        </a:spcAft>
                        <a:buClr>
                          <a:srgbClr val="000000"/>
                        </a:buClr>
                        <a:buSzPts val="1400"/>
                        <a:buFont typeface="Arial"/>
                        <a:buNone/>
                      </a:pPr>
                      <a:r>
                        <a:rPr lang="en-IN" dirty="0"/>
                        <a:t>Wang et al., 2024 </a:t>
                      </a:r>
                      <a:r>
                        <a:rPr lang="en-IN" dirty="0" err="1"/>
                        <a:t>arXiv</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err="1"/>
                        <a:t>LLMGeo</a:t>
                      </a:r>
                      <a:r>
                        <a:rPr lang="en-IN" dirty="0"/>
                        <a:t>: Benchmarking Large Language Models on Image Geolocation In-the-wild </a:t>
                      </a:r>
                      <a:endParaRPr sz="1400" b="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139700" marR="0" lvl="0" indent="0" algn="l" rtl="0">
                        <a:lnSpc>
                          <a:spcPct val="100000"/>
                        </a:lnSpc>
                        <a:spcBef>
                          <a:spcPts val="0"/>
                        </a:spcBef>
                        <a:spcAft>
                          <a:spcPts val="0"/>
                        </a:spcAft>
                        <a:buClr>
                          <a:srgbClr val="000000"/>
                        </a:buClr>
                        <a:buSzPts val="1400"/>
                        <a:buFont typeface="Times New Roman"/>
                        <a:buNone/>
                      </a:pPr>
                      <a:r>
                        <a:rPr lang="en-IN" dirty="0"/>
                        <a:t>Benchmarking multimodal language models for geolocation. </a:t>
                      </a:r>
                      <a:endParaRPr sz="1500" b="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Benchmarks model ability, but does not implement a complete safety-aware application. </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836275">
                <a:tc>
                  <a:txBody>
                    <a:bodyPr/>
                    <a:lstStyle/>
                    <a:p>
                      <a:pPr marL="0" marR="0" lvl="0" indent="0" algn="l" rtl="0">
                        <a:lnSpc>
                          <a:spcPct val="100000"/>
                        </a:lnSpc>
                        <a:spcBef>
                          <a:spcPts val="0"/>
                        </a:spcBef>
                        <a:spcAft>
                          <a:spcPts val="0"/>
                        </a:spcAft>
                        <a:buClr>
                          <a:srgbClr val="000000"/>
                        </a:buClr>
                        <a:buSzPts val="1400"/>
                        <a:buFont typeface="Arial"/>
                        <a:buNone/>
                      </a:pPr>
                      <a:r>
                        <a:rPr lang="en-IN" dirty="0"/>
                        <a:t>Sinski, Zychowski and </a:t>
                      </a:r>
                      <a:r>
                        <a:rPr lang="en-IN" dirty="0" err="1"/>
                        <a:t>Mandziuk</a:t>
                      </a:r>
                      <a:r>
                        <a:rPr lang="en-IN" dirty="0"/>
                        <a:t>, 2024</a:t>
                      </a:r>
                    </a:p>
                    <a:p>
                      <a:pPr marL="0" marR="0" lvl="0" indent="0" algn="l" rtl="0">
                        <a:lnSpc>
                          <a:spcPct val="100000"/>
                        </a:lnSpc>
                        <a:spcBef>
                          <a:spcPts val="0"/>
                        </a:spcBef>
                        <a:spcAft>
                          <a:spcPts val="0"/>
                        </a:spcAft>
                        <a:buClr>
                          <a:srgbClr val="000000"/>
                        </a:buClr>
                        <a:buSzPts val="1400"/>
                        <a:buFont typeface="Arial"/>
                        <a:buNone/>
                      </a:pPr>
                      <a:r>
                        <a:rPr lang="en-IN" dirty="0"/>
                        <a:t>ICONIP</a:t>
                      </a:r>
                      <a:endParaRPr sz="1400" b="0"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Improving Image Geolocation with Multimodal Deep Learning </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Uses multimodal deep learning for image geolocation improvement.</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Focuses on geolocation improvement, not user-confirmed hazard reporting. </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7" name="Google Shape;157;p22"/>
          <p:cNvSpPr txBox="1"/>
          <p:nvPr/>
        </p:nvSpPr>
        <p:spPr>
          <a:xfrm>
            <a:off x="124690" y="1026650"/>
            <a:ext cx="8894620" cy="3865017"/>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Clr>
                <a:srgbClr val="000000"/>
              </a:buClr>
              <a:buSzPts val="3700"/>
              <a:buFont typeface="Arial"/>
              <a:buNone/>
            </a:pPr>
            <a:endParaRPr sz="1400" b="1" i="0" u="none" strike="noStrike" cap="none">
              <a:solidFill>
                <a:schemeClr val="dk1"/>
              </a:solidFill>
              <a:latin typeface="Times New Roman"/>
              <a:ea typeface="Times New Roman"/>
              <a:cs typeface="Times New Roman"/>
              <a:sym typeface="Times New Roman"/>
            </a:endParaRPr>
          </a:p>
        </p:txBody>
      </p:sp>
      <p:sp>
        <p:nvSpPr>
          <p:cNvPr id="158" name="Google Shape;158;p22"/>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pic>
        <p:nvPicPr>
          <p:cNvPr id="159" name="Google Shape;159;p22"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graphicFrame>
        <p:nvGraphicFramePr>
          <p:cNvPr id="160" name="Google Shape;160;p22"/>
          <p:cNvGraphicFramePr/>
          <p:nvPr>
            <p:extLst>
              <p:ext uri="{D42A27DB-BD31-4B8C-83A1-F6EECF244321}">
                <p14:modId xmlns:p14="http://schemas.microsoft.com/office/powerpoint/2010/main" val="2663063195"/>
              </p:ext>
            </p:extLst>
          </p:nvPr>
        </p:nvGraphicFramePr>
        <p:xfrm>
          <a:off x="124690" y="1077063"/>
          <a:ext cx="8894625" cy="3764190"/>
        </p:xfrm>
        <a:graphic>
          <a:graphicData uri="http://schemas.openxmlformats.org/drawingml/2006/table">
            <a:tbl>
              <a:tblPr firstRow="1" bandRow="1">
                <a:noFill/>
                <a:tableStyleId>{49F84ED3-93C1-41D6-B369-CD37911B0747}</a:tableStyleId>
              </a:tblPr>
              <a:tblGrid>
                <a:gridCol w="2083250">
                  <a:extLst>
                    <a:ext uri="{9D8B030D-6E8A-4147-A177-3AD203B41FA5}">
                      <a16:colId xmlns:a16="http://schemas.microsoft.com/office/drawing/2014/main" val="20000"/>
                    </a:ext>
                  </a:extLst>
                </a:gridCol>
                <a:gridCol w="1561175">
                  <a:extLst>
                    <a:ext uri="{9D8B030D-6E8A-4147-A177-3AD203B41FA5}">
                      <a16:colId xmlns:a16="http://schemas.microsoft.com/office/drawing/2014/main" val="20001"/>
                    </a:ext>
                  </a:extLst>
                </a:gridCol>
                <a:gridCol w="2906750">
                  <a:extLst>
                    <a:ext uri="{9D8B030D-6E8A-4147-A177-3AD203B41FA5}">
                      <a16:colId xmlns:a16="http://schemas.microsoft.com/office/drawing/2014/main" val="20002"/>
                    </a:ext>
                  </a:extLst>
                </a:gridCol>
                <a:gridCol w="2343450">
                  <a:extLst>
                    <a:ext uri="{9D8B030D-6E8A-4147-A177-3AD203B41FA5}">
                      <a16:colId xmlns:a16="http://schemas.microsoft.com/office/drawing/2014/main" val="20003"/>
                    </a:ext>
                  </a:extLst>
                </a:gridCol>
              </a:tblGrid>
              <a:tr h="382650">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dirty="0">
                          <a:solidFill>
                            <a:schemeClr val="dk1"/>
                          </a:solidFill>
                          <a:latin typeface="Times New Roman"/>
                          <a:ea typeface="Times New Roman"/>
                          <a:cs typeface="Times New Roman"/>
                          <a:sym typeface="Times New Roman"/>
                        </a:rPr>
                        <a:t>AUTHOR</a:t>
                      </a:r>
                      <a:endParaRPr sz="1500" u="none" strike="noStrike" cap="none" dirty="0">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dirty="0">
                          <a:solidFill>
                            <a:schemeClr val="dk1"/>
                          </a:solidFill>
                          <a:latin typeface="Times New Roman"/>
                          <a:ea typeface="Times New Roman"/>
                          <a:cs typeface="Times New Roman"/>
                          <a:sym typeface="Times New Roman"/>
                        </a:rPr>
                        <a:t>TITLE</a:t>
                      </a:r>
                      <a:endParaRPr sz="1500" u="none" strike="noStrike" cap="none" dirty="0">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dirty="0">
                          <a:solidFill>
                            <a:schemeClr val="dk1"/>
                          </a:solidFill>
                          <a:latin typeface="Times New Roman"/>
                          <a:ea typeface="Times New Roman"/>
                          <a:cs typeface="Times New Roman"/>
                          <a:sym typeface="Times New Roman"/>
                        </a:rPr>
                        <a:t>METHODOLOGY</a:t>
                      </a:r>
                      <a:endParaRPr sz="1500" u="none" strike="noStrike" cap="none" dirty="0">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GB" sz="1500" u="none" strike="noStrike" cap="none" dirty="0">
                          <a:solidFill>
                            <a:schemeClr val="dk1"/>
                          </a:solidFill>
                          <a:latin typeface="Times New Roman"/>
                          <a:ea typeface="Times New Roman"/>
                          <a:cs typeface="Times New Roman"/>
                          <a:sym typeface="Times New Roman"/>
                        </a:rPr>
                        <a:t>LIMITATIONS</a:t>
                      </a:r>
                      <a:endParaRPr sz="1500" u="none" strike="noStrike" cap="none" dirty="0">
                        <a:solidFill>
                          <a:schemeClr val="dk1"/>
                        </a:solidFill>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87625">
                <a:tc>
                  <a:txBody>
                    <a:bodyPr/>
                    <a:lstStyle/>
                    <a:p>
                      <a:pPr marL="0" marR="0" lvl="0" indent="0" algn="l" rtl="0">
                        <a:lnSpc>
                          <a:spcPct val="100000"/>
                        </a:lnSpc>
                        <a:spcBef>
                          <a:spcPts val="0"/>
                        </a:spcBef>
                        <a:spcAft>
                          <a:spcPts val="0"/>
                        </a:spcAft>
                        <a:buClr>
                          <a:srgbClr val="000000"/>
                        </a:buClr>
                        <a:buSzPts val="1400"/>
                        <a:buFont typeface="Arial"/>
                        <a:buNone/>
                      </a:pPr>
                      <a:r>
                        <a:rPr lang="en-IN" dirty="0"/>
                        <a:t> Waheed et al., 2025 </a:t>
                      </a:r>
                      <a:r>
                        <a:rPr lang="en-IN" dirty="0" err="1"/>
                        <a:t>arXiv</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VLM-Guided Visual Place Recognition for Planet-Scale Geo-Localization </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Uses VLM guidance for large-scale visual place recognition</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Emphasizes retrieval quality, not controlled user-facing report workflow.</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48605">
                <a:tc>
                  <a:txBody>
                    <a:bodyPr/>
                    <a:lstStyle/>
                    <a:p>
                      <a:pPr marL="0" marR="0" lvl="0" indent="0" algn="l" rtl="0">
                        <a:lnSpc>
                          <a:spcPct val="100000"/>
                        </a:lnSpc>
                        <a:spcBef>
                          <a:spcPts val="0"/>
                        </a:spcBef>
                        <a:spcAft>
                          <a:spcPts val="0"/>
                        </a:spcAft>
                        <a:buClr>
                          <a:srgbClr val="000000"/>
                        </a:buClr>
                        <a:buSzPts val="1400"/>
                        <a:buFont typeface="Arial"/>
                        <a:buNone/>
                      </a:pPr>
                      <a:r>
                        <a:rPr lang="en-IN" dirty="0"/>
                        <a:t>Li et al., 2025</a:t>
                      </a:r>
                    </a:p>
                    <a:p>
                      <a:pPr marL="0" marR="0" lvl="0" indent="0" algn="l" rtl="0">
                        <a:lnSpc>
                          <a:spcPct val="100000"/>
                        </a:lnSpc>
                        <a:spcBef>
                          <a:spcPts val="0"/>
                        </a:spcBef>
                        <a:spcAft>
                          <a:spcPts val="0"/>
                        </a:spcAft>
                        <a:buClr>
                          <a:srgbClr val="000000"/>
                        </a:buClr>
                        <a:buSzPts val="1400"/>
                        <a:buFont typeface="Arial"/>
                        <a:buNone/>
                      </a:pPr>
                      <a:r>
                        <a:rPr lang="en-IN" dirty="0" err="1"/>
                        <a:t>arXiv</a:t>
                      </a:r>
                      <a:r>
                        <a:rPr lang="en-IN" dirty="0"/>
                        <a:t> </a:t>
                      </a:r>
                      <a:endParaRPr sz="1400" b="1" u="none" strike="noStrike" cap="none" dirty="0">
                        <a:latin typeface="Times New Roman"/>
                        <a:ea typeface="Times New Roman"/>
                        <a:cs typeface="Times New Roman"/>
                        <a:sym typeface="Times New Roman"/>
                      </a:endParaRPr>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From Pixels to Places: A Systematic Benchmark for Evaluating Image Geolocation Ability in Large Language Models</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Benchmarks LLM geolocation ability across image-</a:t>
                      </a:r>
                      <a:r>
                        <a:rPr lang="en-IN" dirty="0" err="1"/>
                        <a:t>toplace</a:t>
                      </a:r>
                      <a:r>
                        <a:rPr lang="en-IN" dirty="0"/>
                        <a:t> tasks.</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dirty="0"/>
                        <a:t>Evaluation is </a:t>
                      </a:r>
                      <a:r>
                        <a:rPr lang="en-IN" dirty="0" err="1"/>
                        <a:t>benchmarkoriented</a:t>
                      </a:r>
                      <a:r>
                        <a:rPr lang="en-IN" dirty="0"/>
                        <a:t> and does not measure incident action outcomes.</a:t>
                      </a:r>
                      <a:endParaRPr sz="1400" u="none" strike="noStrike" cap="none" dirty="0"/>
                    </a:p>
                  </a:txBody>
                  <a:tcPr marL="91425" marR="9142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Modules</a:t>
            </a:r>
          </a:p>
          <a:p>
            <a:r>
              <a:rPr sz="2000"/>
              <a:t xml:space="preserve">● User Interface — Image upload, preview, chat timeline, action buttons</a:t>
            </a:r>
          </a:p>
          <a:p>
            <a:r>
              <a:rPr sz="2000"/>
              <a:t xml:space="preserve">● Backend API — Analyze, learn-more, report, and health endpoints</a:t>
            </a:r>
          </a:p>
          <a:p>
            <a:r>
              <a:rPr sz="2000"/>
              <a:t xml:space="preserve">● Multimodal Inference — Gemini 2.5 Flash for scene understanding</a:t>
            </a:r>
          </a:p>
          <a:p>
            <a:r>
              <a:rPr sz="2000"/>
              <a:t xml:space="preserve">● Parser &amp; Normalizer — JSON extraction, repair, field validation</a:t>
            </a:r>
          </a:p>
          <a:p>
            <a:r>
              <a:rPr sz="2000"/>
              <a:t xml:space="preserve">● Risk Policy Engine — Deterministic risk and confidence rules</a:t>
            </a:r>
          </a:p>
          <a:p>
            <a:r>
              <a:rPr sz="2000"/>
              <a:t xml:space="preserve">● Action Mapper — Report, learn-more, open map, safety tips</a:t>
            </a:r>
          </a:p>
          <a:p>
            <a:r>
              <a:rPr sz="2000"/>
              <a:t xml:space="preserve">● Persistence Layer — SQLite for sessions, outputs, actions, incidents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11</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Mathematical Model</a:t>
            </a:r>
          </a:p>
          <a:p>
            <a:r>
              <a:rPr sz="1800"/>
              <a:t xml:space="preserve">Input image I → Model M produces structured output o = M(I)</a:t>
            </a:r>
          </a:p>
          <a:p>
            <a:r>
              <a:rPr sz="1800"/>
              <a:t xml:space="preserve">o contains: summary, risk, confidence, entities, location, rationale</a:t>
            </a:r>
          </a:p>
          <a:p>
            <a:r>
              <a:rPr sz="1800"/>
              <a:t xml:space="preserve"/>
            </a:r>
          </a:p>
          <a:p>
            <a:r>
              <a:rPr sz="1800"/>
              <a:t xml:space="preserve">Final risk r:</a:t>
            </a:r>
          </a:p>
          <a:p>
            <a:r>
              <a:rPr sz="1800"/>
              <a:t xml:space="preserve">  high if hazard keywords present AND r_m ∈ {low, uncertain}</a:t>
            </a:r>
          </a:p>
          <a:p>
            <a:r>
              <a:rPr sz="1800"/>
              <a:t xml:space="preserve">  otherwise r = r_m (model-assigned risk)</a:t>
            </a:r>
          </a:p>
          <a:p>
            <a:r>
              <a:rPr sz="1800"/>
              <a:t xml:space="preserve"/>
            </a:r>
          </a:p>
          <a:p>
            <a:r>
              <a:rPr sz="1800"/>
              <a:t xml:space="preserve">Confidence c (normalized to [0,1]):</a:t>
            </a:r>
          </a:p>
          <a:p>
            <a:r>
              <a:rPr sz="1800"/>
              <a:t xml:space="preserve">  c = max(c_m, 0.72) when hazard signal detected</a:t>
            </a:r>
          </a:p>
          <a:p>
            <a:r>
              <a:rPr sz="1800"/>
              <a:t xml:space="preserve">  c = c_m otherwise</a:t>
            </a:r>
          </a:p>
          <a:p>
            <a:r>
              <a:rPr sz="1800"/>
              <a:t xml:space="preserve"/>
            </a:r>
          </a:p>
          <a:p>
            <a:r>
              <a:rPr sz="1800"/>
              <a:t xml:space="preserve">Action set A by deterministic policy:</a:t>
            </a:r>
          </a:p>
          <a:p>
            <a:r>
              <a:rPr sz="1800"/>
              <a:t xml:space="preserve">  c &lt; 0.45 or uncertain → ask for context</a:t>
            </a:r>
          </a:p>
          <a:p>
            <a:r>
              <a:rPr sz="1800"/>
              <a:t xml:space="preserve">  r = high → report + safety tips</a:t>
            </a:r>
          </a:p>
          <a:p>
            <a:r>
              <a:rPr sz="1800"/>
              <a:t xml:space="preserve">  r = low → learn-more + open map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p:nvPr/>
        </p:nvSpPr>
        <p:spPr>
          <a:xfrm>
            <a:off x="0" y="914400"/>
            <a:ext cx="9144000" cy="57000"/>
          </a:xfrm>
          <a:prstGeom prst="rect">
            <a:avLst/>
          </a:prstGeom>
          <a:solidFill>
            <a:schemeClr val="accent2">
              <a:alpha val="48235"/>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3" name="Google Shape;183;p25"/>
          <p:cNvSpPr txBox="1"/>
          <p:nvPr/>
        </p:nvSpPr>
        <p:spPr>
          <a:xfrm>
            <a:off x="80" y="840583"/>
            <a:ext cx="8894620" cy="3865017"/>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a:solidFill>
                  <a:schemeClr val="dk1"/>
                </a:solidFill>
                <a:latin typeface="Times New Roman"/>
                <a:ea typeface="Times New Roman"/>
                <a:cs typeface="Times New Roman"/>
                <a:sym typeface="Times New Roman"/>
              </a:rPr>
              <a:t>PROPOSED SOLUTION:</a:t>
            </a:r>
            <a:endParaRPr sz="1400" b="0" i="0" u="none" strike="noStrike" cap="none">
              <a:solidFill>
                <a:srgbClr val="000000"/>
              </a:solidFill>
              <a:latin typeface="Arial"/>
              <a:ea typeface="Arial"/>
              <a:cs typeface="Arial"/>
              <a:sym typeface="Arial"/>
            </a:endParaRPr>
          </a:p>
          <a:p>
            <a:pPr marL="114300" marR="0" lvl="0" indent="0" algn="just" rtl="0">
              <a:lnSpc>
                <a:spcPct val="115000"/>
              </a:lnSpc>
              <a:spcBef>
                <a:spcPts val="120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
        <p:nvSpPr>
          <p:cNvPr id="184" name="Google Shape;184;p25"/>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12</a:t>
            </a:fld>
            <a:endParaRPr sz="1400" b="0" i="0" u="none" strike="noStrike" cap="none">
              <a:solidFill>
                <a:srgbClr val="000000"/>
              </a:solidFill>
              <a:latin typeface="Arial"/>
              <a:ea typeface="Arial"/>
              <a:cs typeface="Arial"/>
              <a:sym typeface="Arial"/>
            </a:endParaRPr>
          </a:p>
        </p:txBody>
      </p:sp>
      <p:pic>
        <p:nvPicPr>
          <p:cNvPr id="185" name="Google Shape;185;p25"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
        <p:nvSpPr>
          <p:cNvPr id="186" name="Google Shape;186;p25"/>
          <p:cNvSpPr txBox="1"/>
          <p:nvPr/>
        </p:nvSpPr>
        <p:spPr>
          <a:xfrm>
            <a:off x="124650" y="1204763"/>
            <a:ext cx="8894700" cy="3562500"/>
          </a:xfrm>
          <a:prstGeom prst="rect">
            <a:avLst/>
          </a:prstGeom>
          <a:noFill/>
          <a:ln>
            <a:noFill/>
          </a:ln>
        </p:spPr>
        <p:txBody>
          <a:bodyPr spcFirstLastPara="1" wrap="square" lIns="91425" tIns="91425" rIns="91425" bIns="91425" anchor="t" anchorCtr="0">
            <a:normAutofit fontScale="25000" lnSpcReduction="20000"/>
          </a:bodyPr>
          <a:lstStyle/>
          <a:p>
            <a:pPr marL="514350" marR="0" lvl="0" indent="-285750" algn="l" rtl="0">
              <a:lnSpc>
                <a:spcPct val="90000"/>
              </a:lnSpc>
              <a:spcBef>
                <a:spcPts val="1200"/>
              </a:spcBef>
              <a:spcAft>
                <a:spcPts val="0"/>
              </a:spcAft>
              <a:buClr>
                <a:srgbClr val="000000"/>
              </a:buClr>
              <a:buSzPts val="440"/>
              <a:buFont typeface="Arial" panose="020B0604020202020204" pitchFamily="34" charset="0"/>
              <a:buChar char="•"/>
            </a:pPr>
            <a:endParaRPr sz="13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indent="-342900">
              <a:buFont typeface="Arial" panose="020B0604020202020204" pitchFamily="34" charset="0"/>
              <a:buChar char="•"/>
            </a:pPr>
            <a:r>
              <a:rPr lang="en-IN" sz="5600" b="1" dirty="0">
                <a:latin typeface="Times New Roman" panose="02020603050405020304" pitchFamily="18" charset="0"/>
                <a:cs typeface="Times New Roman" panose="02020603050405020304" pitchFamily="18" charset="0"/>
              </a:rPr>
              <a:t>Image Upload → Input Validation:</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The user uploads an image through the web application. The backend validates the image format, size, and generates an image hash for secure processing.</a:t>
            </a:r>
          </a:p>
          <a:p>
            <a:endParaRPr lang="en-IN" sz="5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5600" b="1" dirty="0">
                <a:latin typeface="Times New Roman" panose="02020603050405020304" pitchFamily="18" charset="0"/>
                <a:cs typeface="Times New Roman" panose="02020603050405020304" pitchFamily="18" charset="0"/>
              </a:rPr>
              <a:t>Input Validation → Gemini Vision Analysis:</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The validated image is sent to the Gemini 2.5 Flash model, which performs scene understanding, landmark recognition, location estimation, and hazard detection.</a:t>
            </a:r>
          </a:p>
          <a:p>
            <a:pPr marL="342900" indent="-342900">
              <a:buFont typeface="Arial" panose="020B0604020202020204" pitchFamily="34" charset="0"/>
              <a:buChar char="•"/>
            </a:pPr>
            <a:endParaRPr lang="en-IN" sz="5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5600" b="1" dirty="0">
                <a:latin typeface="Times New Roman" panose="02020603050405020304" pitchFamily="18" charset="0"/>
                <a:cs typeface="Times New Roman" panose="02020603050405020304" pitchFamily="18" charset="0"/>
              </a:rPr>
              <a:t>Gemini Vision Analysis → Structured JSON Processing:</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The model returns a structured JSON response containing scene description, estimated location, detected entities, confidence score, risk level, and explanation.</a:t>
            </a:r>
          </a:p>
          <a:p>
            <a:pPr marL="342900" indent="-342900">
              <a:buFont typeface="Arial" panose="020B0604020202020204" pitchFamily="34" charset="0"/>
              <a:buChar char="•"/>
            </a:pPr>
            <a:endParaRPr lang="en-IN" sz="5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5600" b="1" dirty="0">
                <a:latin typeface="Times New Roman" panose="02020603050405020304" pitchFamily="18" charset="0"/>
                <a:cs typeface="Times New Roman" panose="02020603050405020304" pitchFamily="18" charset="0"/>
              </a:rPr>
              <a:t>Structured JSON Processing → Risk Policy Engine:</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The backend validates and normalizes the JSON output, applies deterministic hazard policies, confidence thresholds, and generates appropriate user actions.</a:t>
            </a:r>
          </a:p>
          <a:p>
            <a:endParaRPr lang="en-IN" sz="5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5600" b="1" dirty="0">
                <a:latin typeface="Times New Roman" panose="02020603050405020304" pitchFamily="18" charset="0"/>
                <a:cs typeface="Times New Roman" panose="02020603050405020304" pitchFamily="18" charset="0"/>
              </a:rPr>
              <a:t>Risk Policy Engine → User Actions &amp; Database Logging:</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Based on the detected risk level, the system displays </a:t>
            </a:r>
            <a:r>
              <a:rPr lang="en-IN" sz="5600" b="1" dirty="0">
                <a:latin typeface="Times New Roman" panose="02020603050405020304" pitchFamily="18" charset="0"/>
                <a:cs typeface="Times New Roman" panose="02020603050405020304" pitchFamily="18" charset="0"/>
              </a:rPr>
              <a:t>Learn More</a:t>
            </a:r>
            <a:r>
              <a:rPr lang="en-IN" sz="5600" dirty="0">
                <a:latin typeface="Times New Roman" panose="02020603050405020304" pitchFamily="18" charset="0"/>
                <a:cs typeface="Times New Roman" panose="02020603050405020304" pitchFamily="18" charset="0"/>
              </a:rPr>
              <a:t>, </a:t>
            </a:r>
            <a:r>
              <a:rPr lang="en-IN" sz="5600" b="1" dirty="0">
                <a:latin typeface="Times New Roman" panose="02020603050405020304" pitchFamily="18" charset="0"/>
                <a:cs typeface="Times New Roman" panose="02020603050405020304" pitchFamily="18" charset="0"/>
              </a:rPr>
              <a:t>Open Map</a:t>
            </a:r>
            <a:r>
              <a:rPr lang="en-IN" sz="5600" dirty="0">
                <a:latin typeface="Times New Roman" panose="02020603050405020304" pitchFamily="18" charset="0"/>
                <a:cs typeface="Times New Roman" panose="02020603050405020304" pitchFamily="18" charset="0"/>
              </a:rPr>
              <a:t>, or </a:t>
            </a:r>
            <a:r>
              <a:rPr lang="en-IN" sz="5600" b="1" dirty="0">
                <a:latin typeface="Times New Roman" panose="02020603050405020304" pitchFamily="18" charset="0"/>
                <a:cs typeface="Times New Roman" panose="02020603050405020304" pitchFamily="18" charset="0"/>
              </a:rPr>
              <a:t>Report Incident</a:t>
            </a:r>
            <a:r>
              <a:rPr lang="en-IN" sz="5600" dirty="0">
                <a:latin typeface="Times New Roman" panose="02020603050405020304" pitchFamily="18" charset="0"/>
                <a:cs typeface="Times New Roman" panose="02020603050405020304" pitchFamily="18" charset="0"/>
              </a:rPr>
              <a:t> options. All sessions, model outputs, user actions, and confirmed incident reports are securely stored in the SQLite database for future evaluation and auditing.</a:t>
            </a:r>
          </a:p>
          <a:p>
            <a:pPr marL="0" marR="0" lvl="0" indent="0" algn="l" rtl="0">
              <a:lnSpc>
                <a:spcPct val="90000"/>
              </a:lnSpc>
              <a:spcBef>
                <a:spcPts val="1200"/>
              </a:spcBef>
              <a:spcAft>
                <a:spcPts val="0"/>
              </a:spcAft>
              <a:buClr>
                <a:srgbClr val="000000"/>
              </a:buClr>
              <a:buSzPts val="440"/>
              <a:buFont typeface="Arial"/>
              <a:buNone/>
            </a:pPr>
            <a:endParaRPr sz="9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2" name="TextBox 1"/>
          <p:cNvSpPr txBox="1"/>
          <p:nvPr/>
        </p:nvSpPr>
        <p:spPr>
          <a:xfrm>
            <a:off x="6553200" y="4767263"/>
            <a:ext cx="2133600" cy="273900"/>
          </a:xfrm>
          <a:prstGeom prst="rect">
            <a:avLst/>
          </a:prstGeom>
          <a:noFill/>
        </p:spPr>
        <p:txBody>
          <a:bodyPr wrap="none">
            <a:spAutoFit/>
          </a:bodyPr>
          <a:lstStyle/>
          <a:p>
            <a:pPr>
              <a:defRPr sz="1100"/>
            </a:pPr>
            <a:r>
              <a:t>13</a:t>
            </a:r>
          </a:p>
        </p:txBody>
      </p:sp>
      <p:sp>
        <p:nvSpPr>
          <p:cNvPr id="3" name="TextBox 2"/>
          <p:cNvSpPr txBox="1"/>
          <p:nvPr/>
        </p:nvSpPr>
        <p:spPr>
          <a:xfrm>
            <a:off x="124690" y="1026650"/>
            <a:ext cx="8894620" cy="3865017"/>
          </a:xfrm>
          <a:prstGeom prst="rect">
            <a:avLst/>
          </a:prstGeom>
          <a:noFill/>
        </p:spPr>
        <p:txBody>
          <a:bodyPr wrap="square">
            <a:spAutoFit/>
          </a:bodyPr>
          <a:lstStyle/>
          <a:p>
            <a:r>
              <a:rPr sz="2200" b="1"/>
              <a:t xml:space="preserve">Risk Policy Engine</a:t>
            </a:r>
          </a:p>
          <a:p>
            <a:r>
              <a:rPr sz="2000"/>
              <a:t xml:space="preserve">● Model returns structured JSON: risk level, confidence, entities, summary</a:t>
            </a:r>
          </a:p>
          <a:p>
            <a:r>
              <a:rPr sz="2000"/>
              <a:t xml:space="preserve">● Confidence normalized to [0,1] range</a:t>
            </a:r>
          </a:p>
          <a:p>
            <a:r>
              <a:rPr sz="2000"/>
              <a:t xml:space="preserve">● Hazard keyword detection in summary, rationale, or user context</a:t>
            </a:r>
          </a:p>
          <a:p>
            <a:r>
              <a:rPr sz="2000"/>
              <a:t xml:space="preserve">● Deterministic escalation: keyword + low confidence → high risk override</a:t>
            </a:r>
          </a:p>
          <a:p>
            <a:r>
              <a:rPr sz="2000"/>
              <a:t xml:space="preserve">● Conservative fallback when JSON is invalid or confidence is very low</a:t>
            </a:r>
          </a:p>
          <a:p>
            <a:r>
              <a:rPr sz="2000"/>
              <a:t xml:space="preserve">● Confidence threshold rules determine user-facing action set</a:t>
            </a:r>
          </a:p>
          <a:p>
            <a:r>
              <a:rPr sz="2000"/>
              <a:t xml:space="preserve">● All outputs and decisions persisted in SQLite for audit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14</a:t>
            </a:r>
          </a:p>
        </p:txBody>
      </p:sp>
      <p:sp>
        <p:nvSpPr>
          <p:cNvPr id="4" name="TextBox 3"/>
          <p:cNvSpPr txBox="1"/>
          <p:nvPr/>
        </p:nvSpPr>
        <p:spPr>
          <a:xfrm>
            <a:off x="124690" y="1026650"/>
            <a:ext cx="8894620" cy="800000"/>
          </a:xfrm>
          <a:prstGeom prst="rect">
            <a:avLst/>
          </a:prstGeom>
          <a:noFill/>
        </p:spPr>
        <p:txBody>
          <a:bodyPr wrap="square">
            <a:spAutoFit/>
          </a:bodyPr>
          <a:lstStyle/>
          <a:p>
            <a:r>
              <a:rPr sz="2200" b="1"/>
              <a:t xml:space="preserve">System Architecture</a:t>
            </a:r>
          </a:p>
        </p:txBody>
      </p:sp>
      <p:pic>
        <p:nvPicPr>
          <p:cNvPr id="5" name="Picture 4" descr="system_architecture.png"/>
          <p:cNvPicPr>
            <a:picLocks noChangeAspect="1"/>
          </p:cNvPicPr>
          <p:nvPr/>
        </p:nvPicPr>
        <p:blipFill>
          <a:blip r:embed="rId4"/>
          <a:stretch>
            <a:fillRect/>
          </a:stretch>
        </p:blipFill>
        <p:spPr>
          <a:xfrm>
            <a:off x="152400" y="2050000"/>
            <a:ext cx="6310000" cy="28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3200" y="4767263"/>
            <a:ext cx="2133600" cy="273900"/>
          </a:xfrm>
          <a:prstGeom prst="rect">
            <a:avLst/>
          </a:prstGeom>
          <a:noFill/>
        </p:spPr>
        <p:txBody>
          <a:bodyPr wrap="none">
            <a:spAutoFit/>
          </a:bodyPr>
          <a:lstStyle/>
          <a:p>
            <a:pPr>
              <a:defRPr sz="1100"/>
            </a:pPr>
            <a:r>
              <a:t>15</a:t>
            </a:r>
          </a:p>
        </p:txBody>
      </p:sp>
      <p:sp>
        <p:nvSpPr>
          <p:cNvPr id="3" name="TextBox 2"/>
          <p:cNvSpPr txBox="1"/>
          <p:nvPr/>
        </p:nvSpPr>
        <p:spPr>
          <a:xfrm>
            <a:off x="124690" y="1026650"/>
            <a:ext cx="8894620" cy="3865017"/>
          </a:xfrm>
          <a:prstGeom prst="rect">
            <a:avLst/>
          </a:prstGeom>
          <a:noFill/>
        </p:spPr>
        <p:txBody>
          <a:bodyPr wrap="square">
            <a:spAutoFit/>
          </a:bodyPr>
          <a:lstStyle/>
          <a:p>
            <a:r>
              <a:rPr sz="2200" b="1"/>
              <a:t xml:space="preserve">Evaluation Dataset</a:t>
            </a:r>
          </a:p>
          <a:p>
            <a:r>
              <a:rPr sz="2000"/>
              <a:t xml:space="preserve">● Case-study images: Two Shaniwar Wada inputs (regular + fire-affected)</a:t>
            </a:r>
          </a:p>
          <a:p>
            <a:r>
              <a:rPr sz="2000"/>
              <a:t xml:space="preserve">● Persisted run logs: 22 analyzed runs across 14 sessions</a:t>
            </a:r>
          </a:p>
          <a:p>
            <a:r>
              <a:rPr sz="2000"/>
              <a:t xml:space="preserve">● Low-risk: 8 | High-risk: 8 | Uncertain: 6</a:t>
            </a:r>
          </a:p>
          <a:p>
            <a:r>
              <a:rPr sz="2000"/>
              <a:t xml:space="preserve">● Average confidence: 0.623 (range 0.00–0.95)</a:t>
            </a:r>
          </a:p>
          <a:p>
            <a:r>
              <a:rPr sz="2000"/>
              <a:t xml:space="preserve">● Verified case-study risk-action accuracy: 2/2 (100%)</a:t>
            </a:r>
          </a:p>
        </p:txBody>
      </p:sp>
    </p:spTree>
    <p:extLst>
      <p:ext uri="{BB962C8B-B14F-4D97-AF65-F5344CB8AC3E}">
        <p14:creationId xmlns:p14="http://schemas.microsoft.com/office/powerpoint/2010/main" val="3608631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Project Overview</a:t>
            </a:r>
          </a:p>
          <a:p>
            <a:r>
              <a:rPr sz="2000"/>
              <a:t xml:space="preserve">● Multimodal image understanding with Gemini 2.5 Flash</a:t>
            </a:r>
          </a:p>
          <a:p>
            <a:r>
              <a:rPr sz="2000"/>
              <a:t xml:space="preserve">● Combines place-aware reasoning with hazard-aware decision support</a:t>
            </a:r>
          </a:p>
          <a:p>
            <a:r>
              <a:rPr sz="2000"/>
              <a:t xml:space="preserve">● Structured JSON output: summary, risk, confidence, entities, location</a:t>
            </a:r>
          </a:p>
          <a:p>
            <a:r>
              <a:rPr sz="2000"/>
              <a:t xml:space="preserve">● Deterministic risk-to-action mapping with human-confirmed reporting</a:t>
            </a:r>
          </a:p>
          <a:p>
            <a:r>
              <a:rPr sz="2000"/>
              <a:t xml:space="preserve">● Complete audit trail: sessions, outputs, actions, incidents in SQLite</a:t>
            </a:r>
          </a:p>
          <a:p>
            <a:r>
              <a:rPr sz="2000"/>
              <a:t xml:space="preserve">● Tech Stack: Python/Flask, React/TypeScript, SQLite, Gemini Vision API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Multimodal Inference Pipeline</a:t>
            </a:r>
          </a:p>
          <a:p>
            <a:r>
              <a:rPr sz="2000"/>
              <a:t xml:space="preserve">● Image uploaded — validated for format, size, and hash generation</a:t>
            </a:r>
          </a:p>
          <a:p>
            <a:r>
              <a:rPr sz="2000"/>
              <a:t xml:space="preserve">● Sent to Gemini 2.5 Flash with structured prompt requesting JSON</a:t>
            </a:r>
          </a:p>
          <a:p>
            <a:r>
              <a:rPr sz="2000"/>
              <a:t xml:space="preserve">● Model performs scene understanding, landmark recognition, hazard detection</a:t>
            </a:r>
          </a:p>
          <a:p>
            <a:r>
              <a:rPr sz="2000"/>
              <a:t xml:space="preserve">● Strict JSON extracted: description, location, entities, risk, confidence</a:t>
            </a:r>
          </a:p>
          <a:p>
            <a:r>
              <a:rPr sz="2000"/>
              <a:t xml:space="preserve">● Invalid JSON auto-repaired once; safe fallback if repair fails</a:t>
            </a:r>
          </a:p>
          <a:p>
            <a:r>
              <a:rPr sz="2000"/>
              <a:t xml:space="preserve">● Normalized fields: summary, risk, confidence, entities, location, rationale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18</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Implementation Overview</a:t>
            </a:r>
          </a:p>
          <a:p>
            <a:r>
              <a:rPr sz="2000"/>
              <a:t xml:space="preserve">● Backend: Flask REST API — analyze, learn-more, report, health</a:t>
            </a:r>
          </a:p>
          <a:p>
            <a:r>
              <a:rPr sz="2000"/>
              <a:t xml:space="preserve">● Frontend: React + Vite + TypeScript + Tailwind CSS</a:t>
            </a:r>
          </a:p>
          <a:p>
            <a:r>
              <a:rPr sz="2000"/>
              <a:t xml:space="preserve">● Gemini Integration: google-generativeai SDK, structured output</a:t>
            </a:r>
          </a:p>
          <a:p>
            <a:r>
              <a:rPr sz="2000"/>
              <a:t xml:space="preserve">● Persistence: SQLite — sessions, messages, model_outputs, actions, incidents</a:t>
            </a:r>
          </a:p>
          <a:p>
            <a:r>
              <a:rPr sz="2000"/>
              <a:t xml:space="preserve">● Risk Policy: Keyword detection, confidence normalization, action mapping</a:t>
            </a:r>
          </a:p>
          <a:p>
            <a:r>
              <a:rPr sz="2000"/>
              <a:t xml:space="preserve">● Notification: WhatsApp via Twilio API, environment-gated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19</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Risk-to-Action Mapping</a:t>
            </a:r>
          </a:p>
          <a:p>
            <a:r>
              <a:rPr sz="1800"/>
              <a:t xml:space="preserve">● Low confidence (&lt; 0.45) or uncertain → Ask for context + Why</a:t>
            </a:r>
          </a:p>
          <a:p>
            <a:r>
              <a:rPr sz="1800"/>
              <a:t xml:space="preserve">● High risk → Report Incident (user-confirmed) + Safety Tips + Why</a:t>
            </a:r>
          </a:p>
          <a:p>
            <a:r>
              <a:rPr sz="1800"/>
              <a:t xml:space="preserve">● Medium risk → Safety Tips + Why explanation</a:t>
            </a:r>
          </a:p>
          <a:p>
            <a:r>
              <a:rPr sz="1800"/>
              <a:t xml:space="preserve">● Low risk → Learn More + Open Map + Why explanation</a:t>
            </a:r>
          </a:p>
          <a:p>
            <a:r>
              <a:rPr sz="1800"/>
              <a:t xml:space="preserve">● Hazard override sets confidence floor: c = max(c_m, 0.72)</a:t>
            </a:r>
          </a:p>
          <a:p>
            <a:r>
              <a:rPr sz="1800"/>
              <a:t xml:space="preserve">● Deterministic policy — same input always produces same action 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Evaluation Results</a:t>
            </a:r>
          </a:p>
          <a:p>
            <a:r>
              <a:rPr sz="2000"/>
              <a:t xml:space="preserve">● 22 runs analyzed across 14 user sessions</a:t>
            </a:r>
          </a:p>
          <a:p>
            <a:r>
              <a:rPr sz="2000"/>
              <a:t xml:space="preserve">● 8 low-risk, 8 high-risk, 6 uncertain outputs</a:t>
            </a:r>
          </a:p>
          <a:p>
            <a:r>
              <a:rPr sz="2000"/>
              <a:t xml:space="preserve">● Average confidence: 0.623 (range 0.00–0.95)</a:t>
            </a:r>
          </a:p>
          <a:p>
            <a:r>
              <a:rPr sz="2000"/>
              <a:t xml:space="preserve">● Low (&lt; 0.30): 6 runs (27.3%) — uncertain / fallback</a:t>
            </a:r>
          </a:p>
          <a:p>
            <a:r>
              <a:rPr sz="2000"/>
              <a:t xml:space="preserve">● Mid (0.30–0.79): 5 runs (22.7%) — moderate confidence</a:t>
            </a:r>
          </a:p>
          <a:p>
            <a:r>
              <a:rPr sz="2000"/>
              <a:t xml:space="preserve">● High (≥ 0.80): 11 runs (50.0%) — clear scenes or hazards</a:t>
            </a:r>
          </a:p>
          <a:p>
            <a:r>
              <a:rPr sz="2000"/>
              <a:t xml:space="preserve">● 10 user-confirmed incidents; 3 successful notifications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21</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Features</a:t>
            </a:r>
          </a:p>
          <a:p>
            <a:r>
              <a:rPr sz="2000"/>
              <a:t xml:space="preserve">● Multimodal understanding with structured JSON output</a:t>
            </a:r>
          </a:p>
          <a:p>
            <a:r>
              <a:rPr sz="2000"/>
              <a:t xml:space="preserve">● Risk-aware actions based on confidence and hazard detection</a:t>
            </a:r>
          </a:p>
          <a:p>
            <a:r>
              <a:rPr sz="2000"/>
              <a:t xml:space="preserve">● Human-in-the-loop: report requires explicit user confirmation</a:t>
            </a:r>
          </a:p>
          <a:p>
            <a:r>
              <a:rPr sz="2000"/>
              <a:t xml:space="preserve">● Complete audit trail for all model outputs, actions, incidents</a:t>
            </a:r>
          </a:p>
          <a:p>
            <a:r>
              <a:rPr sz="2000"/>
              <a:t xml:space="preserve">● Privacy-conscious: image hashes instead of raw images</a:t>
            </a:r>
          </a:p>
          <a:p>
            <a:r>
              <a:rPr sz="2000"/>
              <a:t xml:space="preserve">● Safe fallback for invalid or low-confidence model outputs</a:t>
            </a:r>
          </a:p>
          <a:p>
            <a:r>
              <a:rPr sz="2000"/>
              <a:t xml:space="preserve">● Extensible architecture for additional models / providers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22</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Testing Summary</a:t>
            </a:r>
          </a:p>
          <a:p>
            <a:r>
              <a:rPr sz="2000"/>
              <a:t xml:space="preserve">● Functional: image upload, analysis, action buttons — all PASS</a:t>
            </a:r>
          </a:p>
          <a:p>
            <a:r>
              <a:rPr sz="2000"/>
              <a:t xml:space="preserve">● Integration: API → Gemini → DB → Response flow — all PASS</a:t>
            </a:r>
          </a:p>
          <a:p>
            <a:r>
              <a:rPr sz="2000"/>
              <a:t xml:space="preserve">● Shaniwar Wada normal → low risk → Learn More — PASS</a:t>
            </a:r>
          </a:p>
          <a:p>
            <a:r>
              <a:rPr sz="2000"/>
              <a:t xml:space="preserve">● Shaniwar Wada fire → high risk → Report Incident — PASS</a:t>
            </a:r>
          </a:p>
          <a:p>
            <a:r>
              <a:rPr sz="2000"/>
              <a:t xml:space="preserve">● Invalid model response → safe fallback — PASS</a:t>
            </a:r>
          </a:p>
          <a:p>
            <a:r>
              <a:rPr sz="2000"/>
              <a:t xml:space="preserve">● Report requires confirmation before incident — PASS</a:t>
            </a:r>
          </a:p>
          <a:p>
            <a:r>
              <a:rPr sz="2000"/>
              <a:t xml:space="preserve">● All records persisted in SQLite — PASS</a:t>
            </a:r>
          </a:p>
          <a:p>
            <a:r>
              <a:rPr sz="2000"/>
              <a:t xml:space="preserve">● 10 test cases, 0 defects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6"/>
          <p:cNvSpPr txBox="1"/>
          <p:nvPr/>
        </p:nvSpPr>
        <p:spPr>
          <a:xfrm>
            <a:off x="0" y="771900"/>
            <a:ext cx="9144000" cy="57000"/>
          </a:xfrm>
          <a:prstGeom prst="rect">
            <a:avLst/>
          </a:prstGeom>
          <a:solidFill>
            <a:schemeClr val="accent2">
              <a:alpha val="48240"/>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7" name="Google Shape;307;p36"/>
          <p:cNvSpPr txBox="1"/>
          <p:nvPr/>
        </p:nvSpPr>
        <p:spPr>
          <a:xfrm>
            <a:off x="6652350" y="4810399"/>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23</a:t>
            </a:fld>
            <a:endParaRPr sz="1400" b="0" i="0" u="none" strike="noStrike" cap="none">
              <a:solidFill>
                <a:srgbClr val="000000"/>
              </a:solidFill>
              <a:latin typeface="Arial"/>
              <a:ea typeface="Arial"/>
              <a:cs typeface="Arial"/>
              <a:sym typeface="Arial"/>
            </a:endParaRPr>
          </a:p>
        </p:txBody>
      </p:sp>
      <p:pic>
        <p:nvPicPr>
          <p:cNvPr id="308" name="Google Shape;308;p36" descr="C:\Users\DELL\Desktop\pccoer.jpg"/>
          <p:cNvPicPr preferRelativeResize="0"/>
          <p:nvPr/>
        </p:nvPicPr>
        <p:blipFill rotWithShape="1">
          <a:blip r:embed="rId3">
            <a:alphaModFix/>
          </a:blip>
          <a:srcRect/>
          <a:stretch/>
        </p:blipFill>
        <p:spPr>
          <a:xfrm>
            <a:off x="3657600" y="0"/>
            <a:ext cx="1371600" cy="771900"/>
          </a:xfrm>
          <a:prstGeom prst="rect">
            <a:avLst/>
          </a:prstGeom>
          <a:noFill/>
          <a:ln>
            <a:noFill/>
          </a:ln>
        </p:spPr>
      </p:pic>
      <p:pic>
        <p:nvPicPr>
          <p:cNvPr id="309" name="Google Shape;309;p36"/>
          <p:cNvPicPr preferRelativeResize="0"/>
          <p:nvPr/>
        </p:nvPicPr>
        <p:blipFill>
          <a:blip r:embed="rId4">
            <a:alphaModFix/>
          </a:blip>
          <a:stretch>
            <a:fillRect/>
          </a:stretch>
        </p:blipFill>
        <p:spPr>
          <a:xfrm>
            <a:off x="-114750" y="1006425"/>
            <a:ext cx="6076000" cy="3691025"/>
          </a:xfrm>
          <a:prstGeom prst="rect">
            <a:avLst/>
          </a:prstGeom>
          <a:noFill/>
          <a:ln>
            <a:noFill/>
          </a:ln>
        </p:spPr>
      </p:pic>
      <p:pic>
        <p:nvPicPr>
          <p:cNvPr id="310" name="Google Shape;310;p36"/>
          <p:cNvPicPr preferRelativeResize="0"/>
          <p:nvPr/>
        </p:nvPicPr>
        <p:blipFill>
          <a:blip r:embed="rId5">
            <a:alphaModFix/>
          </a:blip>
          <a:stretch>
            <a:fillRect/>
          </a:stretch>
        </p:blipFill>
        <p:spPr>
          <a:xfrm>
            <a:off x="5530162" y="1898825"/>
            <a:ext cx="3509289" cy="1848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24</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Hazard-Action Outcomes</a:t>
            </a:r>
          </a:p>
          <a:p>
            <a:r>
              <a:rPr sz="2000"/>
              <a:t xml:space="preserve">● User-confirmed incidents: 10</a:t>
            </a:r>
          </a:p>
          <a:p>
            <a:r>
              <a:rPr sz="2000"/>
              <a:t xml:space="preserve">● Notification attempts (env-enabled): 3</a:t>
            </a:r>
          </a:p>
          <a:p>
            <a:r>
              <a:rPr sz="2000"/>
              <a:t xml:space="preserve">● Successful notification sends: 3</a:t>
            </a:r>
          </a:p>
          <a:p>
            <a:r>
              <a:rPr sz="2000"/>
              <a:t xml:space="preserve">● Local-only incident records: 7</a:t>
            </a:r>
          </a:p>
          <a:p>
            <a:r>
              <a:rPr sz="2000"/>
              <a:t xml:space="preserve">● Report actions logged: 10</a:t>
            </a:r>
          </a:p>
          <a:p>
            <a:r>
              <a:rPr sz="2000"/>
              <a:t xml:space="preserve">● Learn-more actions logged: 12</a:t>
            </a:r>
          </a:p>
          <a:p>
            <a:r>
              <a:rPr sz="2000"/>
              <a:t xml:space="preserve">● Note: reporting and notification are separate stages</a:t>
            </a:r>
          </a:p>
          <a:p>
            <a:r>
              <a:rPr sz="2000"/>
              <a:t xml:space="preserve">● All 10 incidents user-confirmed and persisted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25</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Confidence Band Distribution</a:t>
            </a:r>
          </a:p>
          <a:p>
            <a:r>
              <a:rPr sz="2000"/>
              <a:t xml:space="preserve">● Low (&lt; 0.30): 6 runs (27.3%) — uncertain/fallback behavior</a:t>
            </a:r>
          </a:p>
          <a:p>
            <a:r>
              <a:rPr sz="2000"/>
              <a:t xml:space="preserve">● Mid (0.30–0.79): 5 runs (22.7%) — valid risk classification</a:t>
            </a:r>
          </a:p>
          <a:p>
            <a:r>
              <a:rPr sz="2000"/>
              <a:t xml:space="preserve">● High (≥ 0.80): 11 runs (50.0%) — clear scenes / hazards</a:t>
            </a:r>
          </a:p>
          <a:p>
            <a:r>
              <a:rPr sz="2000"/>
              <a:t xml:space="preserve">● Shaniwar Wada: 0.95 (normal), 0.85 (hazardous)</a:t>
            </a:r>
          </a:p>
          <a:p>
            <a:r>
              <a:rPr sz="2000"/>
              <a:t xml:space="preserve">● Mean confidence: 0.623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Case Study: Shaniwar Wada</a:t>
            </a:r>
          </a:p>
          <a:p>
            <a:r>
              <a:rPr sz="2000"/>
              <a:t xml:space="preserve">● Sample A — Regular image: Low risk · Conf 0.95 · Learn More</a:t>
            </a:r>
          </a:p>
          <a:p>
            <a:r>
              <a:rPr sz="2000"/>
              <a:t xml:space="preserve">● Sample B — Fire-affected: High risk · Conf 0.85 · Report Incident</a:t>
            </a:r>
          </a:p>
          <a:p>
            <a:r>
              <a:rPr sz="2000"/>
              <a:t xml:space="preserve">● Same landmark, different action paths based on hazard evidence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User Action Flow</a:t>
            </a:r>
          </a:p>
          <a:p>
            <a:r>
              <a:rPr sz="2000"/>
              <a:t xml:space="preserve">● User uploads image → preview + chat-style action buttons</a:t>
            </a:r>
          </a:p>
          <a:p>
            <a:r>
              <a:rPr sz="2000"/>
              <a:t xml:space="preserve">● Low-risk / normal: Learn More · Open Map · Why</a:t>
            </a:r>
          </a:p>
          <a:p>
            <a:r>
              <a:rPr sz="2000"/>
              <a:t xml:space="preserve">● High-risk / hazardous: Report Incident · Safety Tips · Why</a:t>
            </a:r>
          </a:p>
          <a:p>
            <a:r>
              <a:rPr sz="2000"/>
              <a:t xml:space="preserve">● All actions logged for complete audit trail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28</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Incident Reporting Workflow</a:t>
            </a:r>
          </a:p>
          <a:p>
            <a:r>
              <a:rPr sz="2000"/>
              <a:t xml:space="preserve">● High-risk detected → Report Incident action shown</a:t>
            </a:r>
          </a:p>
          <a:p>
            <a:r>
              <a:rPr sz="2000"/>
              <a:t xml:space="preserve">● User reviews → confirms intent to report</a:t>
            </a:r>
          </a:p>
          <a:p>
            <a:r>
              <a:rPr sz="2000"/>
              <a:t xml:space="preserve">● Incident record created in SQLite</a:t>
            </a:r>
          </a:p>
          <a:p>
            <a:r>
              <a:rPr sz="2000"/>
              <a:t xml:space="preserve">● Optional WhatsApp notification (if env-gated)</a:t>
            </a:r>
          </a:p>
          <a:p>
            <a:r>
              <a:rPr sz="2000"/>
              <a:t xml:space="preserve">● No automatic dispatch — human always in control</a:t>
            </a:r>
          </a:p>
          <a:p>
            <a:r>
              <a:rPr sz="2000"/>
              <a:t xml:space="preserve">● All steps logged for audit trail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29</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Summary</a:t>
            </a:r>
          </a:p>
          <a:p>
            <a:r>
              <a:rPr sz="2000"/>
              <a:t xml:space="preserve">● Frontend UI: React + TypeScript + Tailwind CSS</a:t>
            </a:r>
          </a:p>
          <a:p>
            <a:r>
              <a:rPr sz="2000"/>
              <a:t xml:space="preserve">● Backend API: Python Flask (REST)</a:t>
            </a:r>
          </a:p>
          <a:p>
            <a:r>
              <a:rPr sz="2000"/>
              <a:t xml:space="preserve">● Multimodal Model: Gemini 2.5 Flash (Vision)</a:t>
            </a:r>
          </a:p>
          <a:p>
            <a:r>
              <a:rPr sz="2000"/>
              <a:t xml:space="preserve">● Database: SQLite (5 tables)</a:t>
            </a:r>
          </a:p>
          <a:p>
            <a:r>
              <a:rPr sz="2000"/>
              <a:t xml:space="preserve">● Risk Policy: Deterministic keyword + confidence rules</a:t>
            </a:r>
          </a:p>
          <a:p>
            <a:r>
              <a:rPr sz="2000"/>
              <a:t xml:space="preserve">● Notification: Twilio WhatsApp (optional, env-gated)</a:t>
            </a:r>
          </a:p>
          <a:p>
            <a:r>
              <a:rPr sz="2000"/>
              <a:t xml:space="preserve">● Deployment: Local / Cloud (Vercel-ready)</a:t>
            </a:r>
          </a:p>
          <a:p>
            <a:r>
              <a:rPr sz="2000"/>
              <a:t xml:space="preserve">Key metrics: 22 runs, 14 sessions, 10 incidents, 3 notifications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Quick Statistics</a:t>
            </a:r>
          </a:p>
          <a:p>
            <a:r>
              <a:rPr sz="2000"/>
              <a:t xml:space="preserve">● Total analyzed images: 22</a:t>
            </a:r>
          </a:p>
          <a:p>
            <a:r>
              <a:rPr sz="2000"/>
              <a:t xml:space="preserve">● Distinct user sessions: 14</a:t>
            </a:r>
          </a:p>
          <a:p>
            <a:r>
              <a:rPr sz="2000"/>
              <a:t xml:space="preserve">● Low-risk: 8 (36.4%)  High-risk: 8 (36.4%)  Uncertain: 6 (27.3%)</a:t>
            </a:r>
          </a:p>
          <a:p>
            <a:r>
              <a:rPr sz="2000"/>
              <a:t xml:space="preserve">● Average confidence: 0.623  Range: 0.00–0.95</a:t>
            </a:r>
          </a:p>
          <a:p>
            <a:r>
              <a:rPr sz="2000"/>
              <a:t xml:space="preserve">● User-confirmed incidents: 10</a:t>
            </a:r>
          </a:p>
          <a:p>
            <a:r>
              <a:rPr sz="2000"/>
              <a:t xml:space="preserve">● Successful notifications: 3/3 (100%)</a:t>
            </a:r>
          </a:p>
          <a:p>
            <a:r>
              <a:rPr sz="2000"/>
              <a:t xml:space="preserve">● Risk-action accuracy (case study): 100%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31</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Performance Metrics</a:t>
            </a:r>
          </a:p>
          <a:p>
            <a:r>
              <a:rPr sz="1800"/>
              <a:t xml:space="preserve">● Total analyzed runs: 22</a:t>
            </a:r>
          </a:p>
          <a:p>
            <a:r>
              <a:rPr sz="1800"/>
              <a:t xml:space="preserve">● Model response time: ~3–8 seconds</a:t>
            </a:r>
          </a:p>
          <a:p>
            <a:r>
              <a:rPr sz="1800"/>
              <a:t xml:space="preserve">● Average confidence: 0.623  (std dev 0.31)</a:t>
            </a:r>
          </a:p>
          <a:p>
            <a:r>
              <a:rPr sz="1800"/>
              <a:t xml:space="preserve">● Low confidence (&lt; 0.30): 27.3%</a:t>
            </a:r>
          </a:p>
          <a:p>
            <a:r>
              <a:rPr sz="1800"/>
              <a:t xml:space="preserve">● High confidence (≥ 0.80): 50.0%</a:t>
            </a:r>
          </a:p>
          <a:p>
            <a:r>
              <a:rPr sz="1800"/>
              <a:t xml:space="preserve">● Case-study accuracy: 100% (2/2)</a:t>
            </a:r>
          </a:p>
          <a:p>
            <a:r>
              <a:rPr sz="1800"/>
              <a:t xml:space="preserve">Performance depends on Gemini API; no local GPU needed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32</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Key Observations</a:t>
            </a:r>
          </a:p>
          <a:p>
            <a:r>
              <a:rPr sz="1800"/>
              <a:t xml:space="preserve">● Model identifies major landmarks consistently</a:t>
            </a:r>
          </a:p>
          <a:p>
            <a:r>
              <a:rPr sz="1800"/>
              <a:t xml:space="preserve">● Hazard detection reliable for fire/smoke cues</a:t>
            </a:r>
          </a:p>
          <a:p>
            <a:r>
              <a:rPr sz="1800"/>
              <a:t xml:space="preserve">● Confidence correlates with scene clarity</a:t>
            </a:r>
          </a:p>
          <a:p>
            <a:r>
              <a:rPr sz="1800"/>
              <a:t xml:space="preserve">● Low-confidence outputs need better calibration</a:t>
            </a:r>
          </a:p>
          <a:p>
            <a:r>
              <a:rPr sz="1800"/>
              <a:t xml:space="preserve">● Fallback escalation reduces misses but may increase false alerts</a:t>
            </a:r>
          </a:p>
          <a:p>
            <a:r>
              <a:rPr sz="1800"/>
              <a:t xml:space="preserve">● User-confirmed reporting creates clear audit trail</a:t>
            </a:r>
          </a:p>
          <a:p>
            <a:r>
              <a:rPr sz="1800"/>
              <a:t xml:space="preserve">● System works best for scenes with clear landmarks or hazards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33</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Evaluation Metrics</a:t>
            </a:r>
          </a:p>
          <a:p>
            <a:r>
              <a:rPr sz="1800"/>
              <a:t xml:space="preserve">● Primary: Risk-action consistency on verified samples</a:t>
            </a:r>
          </a:p>
          <a:p>
            <a:r>
              <a:rPr sz="1800"/>
              <a:t xml:space="preserve">  — Shaniwar Wada normal: Low risk → Learn More ✓</a:t>
            </a:r>
          </a:p>
          <a:p>
            <a:r>
              <a:rPr sz="1800"/>
              <a:t xml:space="preserve">  — Shaniwar Wada fire: High risk → Report ✓</a:t>
            </a:r>
          </a:p>
          <a:p>
            <a:r>
              <a:rPr sz="1800"/>
              <a:t xml:space="preserve">● Secondary (from run logs):</a:t>
            </a:r>
          </a:p>
          <a:p>
            <a:r>
              <a:rPr sz="1800"/>
              <a:t xml:space="preserve">  — Risk distribution (low / high / uncertain)</a:t>
            </a:r>
          </a:p>
          <a:p>
            <a:r>
              <a:rPr sz="1800"/>
              <a:t xml:space="preserve">  — Confidence mean and range</a:t>
            </a:r>
          </a:p>
          <a:p>
            <a:r>
              <a:rPr sz="1800"/>
              <a:t xml:space="preserve">  — Confidence band distribution</a:t>
            </a:r>
          </a:p>
          <a:p>
            <a:r>
              <a:rPr sz="1800"/>
              <a:t xml:space="preserve">  — Incident logging rate</a:t>
            </a:r>
          </a:p>
          <a:p>
            <a:r>
              <a:rPr sz="1800"/>
              <a:t xml:space="preserve">  — Notification success rate</a:t>
            </a:r>
          </a:p>
          <a:p>
            <a:r>
              <a:rPr sz="1800"/>
              <a:t xml:space="preserve">Full precision/recall requires larger labelled dataset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34</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Limitations</a:t>
            </a:r>
          </a:p>
          <a:p>
            <a:r>
              <a:rPr sz="1800"/>
              <a:t xml:space="preserve">● Evaluation dataset limited to project logs (22 runs)</a:t>
            </a:r>
          </a:p>
          <a:p>
            <a:r>
              <a:rPr sz="1800"/>
              <a:t xml:space="preserve">● System depends on Gemini API availability and accuracy</a:t>
            </a:r>
          </a:p>
          <a:p>
            <a:r>
              <a:rPr sz="1800"/>
              <a:t xml:space="preserve">● Hazard detection is not legal / forensic verification</a:t>
            </a:r>
          </a:p>
          <a:p>
            <a:r>
              <a:rPr sz="1800"/>
              <a:t xml:space="preserve">● Confidence scores need calibration for production use</a:t>
            </a:r>
          </a:p>
          <a:p>
            <a:r>
              <a:rPr sz="1800"/>
              <a:t xml:space="preserve">● No vector database retrieval for geospatial grounding</a:t>
            </a:r>
          </a:p>
          <a:p>
            <a:r>
              <a:rPr sz="1800"/>
              <a:t xml:space="preserve">● Hazard demos mainly fire-related; other types need testing</a:t>
            </a:r>
          </a:p>
          <a:p>
            <a:r>
              <a:rPr sz="1800"/>
              <a:t xml:space="preserve">● No production-grade authentication or RBAC yet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35</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Validation Summary</a:t>
            </a:r>
          </a:p>
          <a:p>
            <a:r>
              <a:rPr sz="2000"/>
              <a:t xml:space="preserve">● 22 runs validated — normal and hazardous scenarios</a:t>
            </a:r>
          </a:p>
          <a:p>
            <a:r>
              <a:rPr sz="2000"/>
              <a:t xml:space="preserve">● 8/8 high-risk images → correct report action</a:t>
            </a:r>
          </a:p>
          <a:p>
            <a:r>
              <a:rPr sz="2000"/>
              <a:t xml:space="preserve">● 8/8 low-risk images → correct informational action</a:t>
            </a:r>
          </a:p>
          <a:p>
            <a:r>
              <a:rPr sz="2000"/>
              <a:t xml:space="preserve">● 6 uncertain → correctly prompted for more context</a:t>
            </a:r>
          </a:p>
          <a:p>
            <a:r>
              <a:rPr sz="2000"/>
              <a:t xml:space="preserve">● Case-study accuracy: 100% (Shaniwar Wada)</a:t>
            </a:r>
          </a:p>
          <a:p>
            <a:r>
              <a:rPr sz="2000"/>
              <a:t xml:space="preserve">● Notification delivery: 100% (3/3 when enabled)</a:t>
            </a:r>
          </a:p>
          <a:p>
            <a:r>
              <a:rPr sz="2000"/>
              <a:t xml:space="preserve">● All outputs, actions, incidents persisted and auditable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Testing Methodology</a:t>
            </a:r>
          </a:p>
          <a:p>
            <a:r>
              <a:rPr sz="2000"/>
              <a:t xml:space="preserve">1. Upload supported image — verify analysis response</a:t>
            </a:r>
          </a:p>
          <a:p>
            <a:r>
              <a:rPr sz="2000"/>
              <a:t xml:space="preserve">2. Normal landmark — verify low risk + Learn More</a:t>
            </a:r>
          </a:p>
          <a:p>
            <a:r>
              <a:rPr sz="2000"/>
              <a:t xml:space="preserve">3. Hazardous image — verify high risk + Report</a:t>
            </a:r>
          </a:p>
          <a:p>
            <a:r>
              <a:rPr sz="2000"/>
              <a:t xml:space="preserve">4. Uncertain/low-confidence — verify ask for context</a:t>
            </a:r>
          </a:p>
          <a:p>
            <a:r>
              <a:rPr sz="2000"/>
              <a:t xml:space="preserve">5. Report action — verify confirmation required</a:t>
            </a:r>
          </a:p>
          <a:p>
            <a:r>
              <a:rPr sz="2000"/>
              <a:t xml:space="preserve">6. Model outputs saved in SQLite</a:t>
            </a:r>
          </a:p>
          <a:p>
            <a:r>
              <a:rPr sz="2000"/>
              <a:t xml:space="preserve">7. Actions logged in SQLite</a:t>
            </a:r>
          </a:p>
          <a:p>
            <a:r>
              <a:rPr sz="2000"/>
              <a:t xml:space="preserve">8. Invalid model response → safe fallback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Privacy, Security &amp; Ethics</a:t>
            </a:r>
          </a:p>
          <a:p>
            <a:r>
              <a:rPr sz="2000"/>
              <a:t xml:space="preserve">● Privacy: Raw images not stored; image hashes used</a:t>
            </a:r>
          </a:p>
          <a:p>
            <a:r>
              <a:rPr sz="2000"/>
              <a:t xml:space="preserve">● Security: API keys in env variables, never logged</a:t>
            </a:r>
          </a:p>
          <a:p>
            <a:r>
              <a:rPr sz="2000"/>
              <a:t xml:space="preserve">● Ethics: No automatic authority dispatch</a:t>
            </a:r>
          </a:p>
          <a:p>
            <a:r>
              <a:rPr sz="2000"/>
              <a:t xml:space="preserve">● Transparency: Model rationale shown with every decision</a:t>
            </a:r>
          </a:p>
          <a:p>
            <a:r>
              <a:rPr sz="2000"/>
              <a:t xml:space="preserve">● Data: All records persist for audit and evaluation</a:t>
            </a:r>
          </a:p>
          <a:p>
            <a:r>
              <a:rPr sz="2000"/>
              <a:t xml:space="preserve">● Safety: Conservative fallback for uncertain outputs</a:t>
            </a:r>
          </a:p>
          <a:p>
            <a:r>
              <a:rPr sz="2000"/>
              <a:t xml:space="preserve">● Design: Academic demonstration and controlled use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38</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Key Observations</a:t>
            </a:r>
          </a:p>
          <a:p>
            <a:r>
              <a:rPr sz="2000"/>
              <a:t xml:space="preserve">● Model identifies major landmarks reliably</a:t>
            </a:r>
          </a:p>
          <a:p>
            <a:r>
              <a:rPr sz="2000"/>
              <a:t xml:space="preserve">● Hazard detection works for fire/smoke cues</a:t>
            </a:r>
          </a:p>
          <a:p>
            <a:r>
              <a:rPr sz="2000"/>
              <a:t xml:space="preserve">● Confidence correlates with scene clarity</a:t>
            </a:r>
          </a:p>
          <a:p>
            <a:r>
              <a:rPr sz="2000"/>
              <a:t xml:space="preserve">● Low-confidence outputs need better calibration</a:t>
            </a:r>
          </a:p>
          <a:p>
            <a:r>
              <a:rPr sz="2000"/>
              <a:t xml:space="preserve">● Fallback escalation is safety-oriented but may increase false alerts</a:t>
            </a:r>
          </a:p>
          <a:p>
            <a:r>
              <a:rPr sz="2000"/>
              <a:t xml:space="preserve">● User-confirmed reporting creates audit trail</a:t>
            </a:r>
          </a:p>
          <a:p>
            <a:r>
              <a:rPr sz="2000"/>
              <a:t xml:space="preserve">● Optimal for scenes with clear landmarks or visible hazards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39</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Applications</a:t>
            </a:r>
          </a:p>
          <a:p>
            <a:r>
              <a:rPr sz="1800"/>
              <a:t xml:space="preserve">● Tourist landmark explanation and learn-more assistance</a:t>
            </a:r>
          </a:p>
          <a:p>
            <a:r>
              <a:rPr sz="1800"/>
              <a:t xml:space="preserve">● Public safety awareness and guided incident reporting</a:t>
            </a:r>
          </a:p>
          <a:p>
            <a:r>
              <a:rPr sz="1800"/>
              <a:t xml:space="preserve">● Academic demonstration of multimodal LLM decision support</a:t>
            </a:r>
          </a:p>
          <a:p>
            <a:r>
              <a:rPr sz="1800"/>
              <a:t xml:space="preserve">● Image-based context retrieval for educational use</a:t>
            </a:r>
          </a:p>
          <a:p>
            <a:r>
              <a:rPr sz="1800"/>
              <a:t xml:space="preserve">● Smart city monitoring with human verification</a:t>
            </a:r>
          </a:p>
          <a:p>
            <a:r>
              <a:rPr sz="1800"/>
              <a:t xml:space="preserve">● Disaster awareness prototypes (fire, flood, collapse)</a:t>
            </a:r>
          </a:p>
          <a:p>
            <a:r>
              <a:rPr sz="1800"/>
              <a:t xml:space="preserve">● Digital verification workflows requiring image context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Advantages</a:t>
            </a:r>
          </a:p>
          <a:p>
            <a:r>
              <a:rPr sz="1800"/>
              <a:t xml:space="preserve">● Multimodal understanding with structured JSON output</a:t>
            </a:r>
          </a:p>
          <a:p>
            <a:r>
              <a:rPr sz="1800"/>
              <a:t xml:space="preserve">● Risk-aware actions based on confidence and hazard detection</a:t>
            </a:r>
          </a:p>
          <a:p>
            <a:r>
              <a:rPr sz="1800"/>
              <a:t xml:space="preserve">● Human-in-the-loop: all reports require explicit confirmation</a:t>
            </a:r>
          </a:p>
          <a:p>
            <a:r>
              <a:rPr sz="1800"/>
              <a:t xml:space="preserve">● Complete audit trail for all decisions and actions</a:t>
            </a:r>
          </a:p>
          <a:p>
            <a:r>
              <a:rPr sz="1800"/>
              <a:t xml:space="preserve">● Privacy-conscious: image hashes instead of raw storage</a:t>
            </a:r>
          </a:p>
          <a:p>
            <a:r>
              <a:rPr sz="1800"/>
              <a:t xml:space="preserve">● Safe fallback for invalid or low-confidence outputs</a:t>
            </a:r>
          </a:p>
          <a:p>
            <a:r>
              <a:rPr sz="1800"/>
              <a:t xml:space="preserve">● Extensible architecture for additional models / providers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41</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Future Work</a:t>
            </a:r>
          </a:p>
          <a:p>
            <a:r>
              <a:rPr sz="2000"/>
              <a:t xml:space="preserve">● Vector retrieval and embedding-based search for geospatial accuracy</a:t>
            </a:r>
          </a:p>
          <a:p>
            <a:r>
              <a:rPr sz="2000"/>
              <a:t xml:space="preserve">● Dedicated OCR subsystem for text-in-scene extraction</a:t>
            </a:r>
          </a:p>
          <a:p>
            <a:r>
              <a:rPr sz="2000"/>
              <a:t xml:space="preserve">● Confidence calibration using conformal prediction</a:t>
            </a:r>
          </a:p>
          <a:p>
            <a:r>
              <a:rPr sz="2000"/>
              <a:t xml:space="preserve">● Expanded hazard categories (flood, accident, collapse, etc.)</a:t>
            </a:r>
          </a:p>
          <a:p>
            <a:r>
              <a:rPr sz="2000"/>
              <a:t xml:space="preserve">● Role-based access control and incident review workflows</a:t>
            </a:r>
          </a:p>
          <a:p>
            <a:r>
              <a:rPr sz="2000"/>
              <a:t xml:space="preserve">● Real-time dashboard analytics for safety teams</a:t>
            </a:r>
          </a:p>
          <a:p>
            <a:r>
              <a:rPr sz="2000"/>
              <a:t xml:space="preserve">● Larger labelled evaluation dataset for precision/recall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5"/>
          <p:cNvSpPr/>
          <p:nvPr/>
        </p:nvSpPr>
        <p:spPr>
          <a:xfrm>
            <a:off x="0" y="0"/>
            <a:ext cx="9144000" cy="5143500"/>
          </a:xfrm>
          <a:prstGeom prst="rect">
            <a:avLst/>
          </a:prstGeom>
          <a:solidFill>
            <a:srgbClr val="F8FB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6" name="Google Shape;626;p55"/>
          <p:cNvSpPr/>
          <p:nvPr/>
        </p:nvSpPr>
        <p:spPr>
          <a:xfrm>
            <a:off x="0" y="914400"/>
            <a:ext cx="9144000" cy="57300"/>
          </a:xfrm>
          <a:prstGeom prst="rect">
            <a:avLst/>
          </a:prstGeom>
          <a:solidFill>
            <a:srgbClr val="60B5CC">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627" name="Google Shape;627;p55"/>
          <p:cNvPicPr preferRelativeResize="0"/>
          <p:nvPr/>
        </p:nvPicPr>
        <p:blipFill rotWithShape="1">
          <a:blip r:embed="rId3">
            <a:alphaModFix/>
          </a:blip>
          <a:srcRect/>
          <a:stretch/>
        </p:blipFill>
        <p:spPr>
          <a:xfrm>
            <a:off x="3657600" y="0"/>
            <a:ext cx="1371600" cy="809700"/>
          </a:xfrm>
          <a:prstGeom prst="rect">
            <a:avLst/>
          </a:prstGeom>
          <a:noFill/>
          <a:ln>
            <a:noFill/>
          </a:ln>
        </p:spPr>
      </p:pic>
      <p:sp>
        <p:nvSpPr>
          <p:cNvPr id="628" name="Google Shape;628;p55"/>
          <p:cNvSpPr txBox="1"/>
          <p:nvPr/>
        </p:nvSpPr>
        <p:spPr>
          <a:xfrm>
            <a:off x="381000" y="1095375"/>
            <a:ext cx="83820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400" b="1">
                <a:solidFill>
                  <a:srgbClr val="000000"/>
                </a:solidFill>
                <a:latin typeface="Times New Roman"/>
                <a:ea typeface="Times New Roman"/>
                <a:cs typeface="Times New Roman"/>
                <a:sym typeface="Times New Roman"/>
              </a:rPr>
              <a:t>Social, Ethical &amp; Legal Framework</a:t>
            </a:r>
            <a:endParaRPr sz="2400" b="1">
              <a:solidFill>
                <a:srgbClr val="000000"/>
              </a:solidFill>
              <a:latin typeface="Times New Roman"/>
              <a:ea typeface="Times New Roman"/>
              <a:cs typeface="Times New Roman"/>
              <a:sym typeface="Times New Roman"/>
            </a:endParaRPr>
          </a:p>
        </p:txBody>
      </p:sp>
      <p:grpSp>
        <p:nvGrpSpPr>
          <p:cNvPr id="629" name="Google Shape;629;p55"/>
          <p:cNvGrpSpPr/>
          <p:nvPr/>
        </p:nvGrpSpPr>
        <p:grpSpPr>
          <a:xfrm>
            <a:off x="381000" y="1619250"/>
            <a:ext cx="8382000" cy="1428900"/>
            <a:chOff x="381000" y="1619250"/>
            <a:chExt cx="8382000" cy="1428900"/>
          </a:xfrm>
        </p:grpSpPr>
        <p:sp>
          <p:nvSpPr>
            <p:cNvPr id="630" name="Google Shape;630;p55"/>
            <p:cNvSpPr/>
            <p:nvPr/>
          </p:nvSpPr>
          <p:spPr>
            <a:xfrm>
              <a:off x="381000" y="1619250"/>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1" name="Google Shape;631;p55"/>
            <p:cNvSpPr txBox="1"/>
            <p:nvPr/>
          </p:nvSpPr>
          <p:spPr>
            <a:xfrm>
              <a:off x="523875" y="1714500"/>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1. Privacy &amp; Anonymity</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Focuses on </a:t>
              </a:r>
              <a:r>
                <a:rPr lang="en-GB" sz="1000" b="1">
                  <a:solidFill>
                    <a:srgbClr val="000000"/>
                  </a:solidFill>
                  <a:latin typeface="Arial"/>
                  <a:ea typeface="Arial"/>
                  <a:cs typeface="Arial"/>
                  <a:sym typeface="Arial"/>
                </a:rPr>
                <a:t>behavior</a:t>
              </a:r>
              <a:r>
                <a:rPr lang="en-GB" sz="1000" b="0">
                  <a:solidFill>
                    <a:srgbClr val="333333"/>
                  </a:solidFill>
                  <a:latin typeface="Arial"/>
                  <a:ea typeface="Arial"/>
                  <a:cs typeface="Arial"/>
                  <a:sym typeface="Arial"/>
                </a:rPr>
                <a:t>, not ID.</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Personal data is </a:t>
              </a:r>
              <a:r>
                <a:rPr lang="en-GB" sz="1000" b="1">
                  <a:solidFill>
                    <a:srgbClr val="000000"/>
                  </a:solidFill>
                  <a:latin typeface="Arial"/>
                  <a:ea typeface="Arial"/>
                  <a:cs typeface="Arial"/>
                  <a:sym typeface="Arial"/>
                </a:rPr>
                <a:t>not stored</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Analyzes crowd videos for safety.</a:t>
              </a:r>
              <a:endParaRPr sz="1000" b="0">
                <a:solidFill>
                  <a:srgbClr val="333333"/>
                </a:solidFill>
                <a:latin typeface="Arial"/>
                <a:ea typeface="Arial"/>
                <a:cs typeface="Arial"/>
                <a:sym typeface="Arial"/>
              </a:endParaRPr>
            </a:p>
          </p:txBody>
        </p:sp>
        <p:sp>
          <p:nvSpPr>
            <p:cNvPr id="632" name="Google Shape;632;p55"/>
            <p:cNvSpPr/>
            <p:nvPr/>
          </p:nvSpPr>
          <p:spPr>
            <a:xfrm>
              <a:off x="3238500" y="1619250"/>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3" name="Google Shape;633;p55"/>
            <p:cNvSpPr txBox="1"/>
            <p:nvPr/>
          </p:nvSpPr>
          <p:spPr>
            <a:xfrm>
              <a:off x="3381375" y="1714500"/>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2. Ethical Surveillance</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Used only for </a:t>
              </a:r>
              <a:r>
                <a:rPr lang="en-GB" sz="1000" b="1">
                  <a:solidFill>
                    <a:srgbClr val="000000"/>
                  </a:solidFill>
                  <a:latin typeface="Arial"/>
                  <a:ea typeface="Arial"/>
                  <a:cs typeface="Arial"/>
                  <a:sym typeface="Arial"/>
                </a:rPr>
                <a:t>public safety</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Prevents disaster/misuse.</a:t>
              </a:r>
              <a:endParaRPr sz="1000" b="0">
                <a:solidFill>
                  <a:srgbClr val="333333"/>
                </a:solidFill>
                <a:latin typeface="Arial"/>
                <a:ea typeface="Arial"/>
                <a:cs typeface="Arial"/>
                <a:sym typeface="Arial"/>
              </a:endParaRPr>
            </a:p>
            <a:p>
              <a:pPr marL="0" lvl="0" indent="0" algn="l" rtl="0">
                <a:spcBef>
                  <a:spcPts val="0"/>
                </a:spcBef>
                <a:spcAft>
                  <a:spcPts val="0"/>
                </a:spcAft>
                <a:buNone/>
              </a:pPr>
              <a:r>
                <a:rPr lang="en-GB" sz="1000" b="0">
                  <a:solidFill>
                    <a:srgbClr val="333333"/>
                  </a:solidFill>
                  <a:latin typeface="Arial"/>
                  <a:ea typeface="Arial"/>
                  <a:cs typeface="Arial"/>
                  <a:sym typeface="Arial"/>
                </a:rPr>
                <a:t>• No unnecessary tracking.</a:t>
              </a:r>
              <a:endParaRPr sz="1000" b="0">
                <a:solidFill>
                  <a:srgbClr val="333333"/>
                </a:solidFill>
                <a:latin typeface="Arial"/>
                <a:ea typeface="Arial"/>
                <a:cs typeface="Arial"/>
                <a:sym typeface="Arial"/>
              </a:endParaRPr>
            </a:p>
          </p:txBody>
        </p:sp>
        <p:sp>
          <p:nvSpPr>
            <p:cNvPr id="634" name="Google Shape;634;p55"/>
            <p:cNvSpPr/>
            <p:nvPr/>
          </p:nvSpPr>
          <p:spPr>
            <a:xfrm>
              <a:off x="6096000" y="1619250"/>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5" name="Google Shape;635;p55"/>
            <p:cNvSpPr txBox="1"/>
            <p:nvPr/>
          </p:nvSpPr>
          <p:spPr>
            <a:xfrm>
              <a:off x="6238875" y="1714500"/>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3. Data Security</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a:t>
              </a:r>
              <a:r>
                <a:rPr lang="en-GB" sz="1000" b="1">
                  <a:solidFill>
                    <a:srgbClr val="000000"/>
                  </a:solidFill>
                  <a:latin typeface="Arial"/>
                  <a:ea typeface="Arial"/>
                  <a:cs typeface="Arial"/>
                  <a:sym typeface="Arial"/>
                </a:rPr>
                <a:t>Secure storage</a:t>
              </a:r>
              <a:r>
                <a:rPr lang="en-GB" sz="1000" b="0">
                  <a:solidFill>
                    <a:srgbClr val="333333"/>
                  </a:solidFill>
                  <a:latin typeface="Arial"/>
                  <a:ea typeface="Arial"/>
                  <a:cs typeface="Arial"/>
                  <a:sym typeface="Arial"/>
                </a:rPr>
                <a:t> of results.</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Access restricted to </a:t>
              </a:r>
              <a:r>
                <a:rPr lang="en-GB" sz="1000" b="1">
                  <a:solidFill>
                    <a:srgbClr val="000000"/>
                  </a:solidFill>
                  <a:latin typeface="Arial"/>
                  <a:ea typeface="Arial"/>
                  <a:cs typeface="Arial"/>
                  <a:sym typeface="Arial"/>
                </a:rPr>
                <a:t>authorities</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Protected video pipelines.</a:t>
              </a:r>
              <a:endParaRPr sz="1000" b="0">
                <a:solidFill>
                  <a:srgbClr val="333333"/>
                </a:solidFill>
                <a:latin typeface="Arial"/>
                <a:ea typeface="Arial"/>
                <a:cs typeface="Arial"/>
                <a:sym typeface="Arial"/>
              </a:endParaRPr>
            </a:p>
          </p:txBody>
        </p:sp>
      </p:grpSp>
      <p:grpSp>
        <p:nvGrpSpPr>
          <p:cNvPr id="636" name="Google Shape;636;p55"/>
          <p:cNvGrpSpPr/>
          <p:nvPr/>
        </p:nvGrpSpPr>
        <p:grpSpPr>
          <a:xfrm>
            <a:off x="381000" y="3190875"/>
            <a:ext cx="8382000" cy="1428900"/>
            <a:chOff x="381000" y="3190875"/>
            <a:chExt cx="8382000" cy="1428900"/>
          </a:xfrm>
        </p:grpSpPr>
        <p:sp>
          <p:nvSpPr>
            <p:cNvPr id="637" name="Google Shape;637;p55"/>
            <p:cNvSpPr/>
            <p:nvPr/>
          </p:nvSpPr>
          <p:spPr>
            <a:xfrm>
              <a:off x="381000" y="3190875"/>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8" name="Google Shape;638;p55"/>
            <p:cNvSpPr txBox="1"/>
            <p:nvPr/>
          </p:nvSpPr>
          <p:spPr>
            <a:xfrm>
              <a:off x="523875" y="3286125"/>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4. Bias &amp; Fairness</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Trained on </a:t>
              </a:r>
              <a:r>
                <a:rPr lang="en-GB" sz="1000" b="1">
                  <a:solidFill>
                    <a:srgbClr val="000000"/>
                  </a:solidFill>
                  <a:latin typeface="Arial"/>
                  <a:ea typeface="Arial"/>
                  <a:cs typeface="Arial"/>
                  <a:sym typeface="Arial"/>
                </a:rPr>
                <a:t>diverse scenarios</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Continuous evaluation.</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Reliable, fair predictions.</a:t>
              </a:r>
              <a:endParaRPr sz="1000" b="0">
                <a:solidFill>
                  <a:srgbClr val="333333"/>
                </a:solidFill>
                <a:latin typeface="Arial"/>
                <a:ea typeface="Arial"/>
                <a:cs typeface="Arial"/>
                <a:sym typeface="Arial"/>
              </a:endParaRPr>
            </a:p>
          </p:txBody>
        </p:sp>
        <p:sp>
          <p:nvSpPr>
            <p:cNvPr id="639" name="Google Shape;639;p55"/>
            <p:cNvSpPr/>
            <p:nvPr/>
          </p:nvSpPr>
          <p:spPr>
            <a:xfrm>
              <a:off x="3238500" y="3190875"/>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0" name="Google Shape;640;p55"/>
            <p:cNvSpPr txBox="1"/>
            <p:nvPr/>
          </p:nvSpPr>
          <p:spPr>
            <a:xfrm>
              <a:off x="3381375" y="3286125"/>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5. Legal Compliance</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Follows </a:t>
              </a:r>
              <a:r>
                <a:rPr lang="en-GB" sz="1000" b="1">
                  <a:solidFill>
                    <a:srgbClr val="000000"/>
                  </a:solidFill>
                  <a:latin typeface="Arial"/>
                  <a:ea typeface="Arial"/>
                  <a:cs typeface="Arial"/>
                  <a:sym typeface="Arial"/>
                </a:rPr>
                <a:t>Copyright/Data laws</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Complies with Govt privacy acts.</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Strict source regulation.</a:t>
              </a:r>
              <a:endParaRPr sz="1000" b="0">
                <a:solidFill>
                  <a:srgbClr val="333333"/>
                </a:solidFill>
                <a:latin typeface="Arial"/>
                <a:ea typeface="Arial"/>
                <a:cs typeface="Arial"/>
                <a:sym typeface="Arial"/>
              </a:endParaRPr>
            </a:p>
          </p:txBody>
        </p:sp>
        <p:sp>
          <p:nvSpPr>
            <p:cNvPr id="641" name="Google Shape;641;p55"/>
            <p:cNvSpPr/>
            <p:nvPr/>
          </p:nvSpPr>
          <p:spPr>
            <a:xfrm>
              <a:off x="6096000" y="3190875"/>
              <a:ext cx="2667000" cy="1428900"/>
            </a:xfrm>
            <a:prstGeom prst="roundRect">
              <a:avLst>
                <a:gd name="adj" fmla="val 5333"/>
              </a:avLst>
            </a:prstGeom>
            <a:solidFill>
              <a:srgbClr val="FFFFFF"/>
            </a:solidFill>
            <a:ln w="9525" cap="flat" cmpd="sng">
              <a:solidFill>
                <a:srgbClr val="A0D3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2" name="Google Shape;642;p55"/>
            <p:cNvSpPr txBox="1"/>
            <p:nvPr/>
          </p:nvSpPr>
          <p:spPr>
            <a:xfrm>
              <a:off x="6238875" y="3286125"/>
              <a:ext cx="2381400" cy="123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1">
                  <a:solidFill>
                    <a:srgbClr val="071699"/>
                  </a:solidFill>
                  <a:latin typeface="Arial"/>
                  <a:ea typeface="Arial"/>
                  <a:cs typeface="Arial"/>
                  <a:sym typeface="Arial"/>
                </a:rPr>
                <a:t>6. Responsible Use</a:t>
              </a:r>
              <a:endParaRPr sz="1200" b="1">
                <a:solidFill>
                  <a:srgbClr val="071699"/>
                </a:solidFill>
                <a:latin typeface="Arial"/>
                <a:ea typeface="Arial"/>
                <a:cs typeface="Arial"/>
                <a:sym typeface="Arial"/>
              </a:endParaRPr>
            </a:p>
            <a:p>
              <a:pPr marL="0" lvl="0" indent="0" algn="l" rtl="0">
                <a:spcBef>
                  <a:spcPts val="600"/>
                </a:spcBef>
                <a:spcAft>
                  <a:spcPts val="0"/>
                </a:spcAft>
                <a:buNone/>
              </a:pPr>
              <a:r>
                <a:rPr lang="en-GB" sz="1000" b="0">
                  <a:solidFill>
                    <a:srgbClr val="333333"/>
                  </a:solidFill>
                  <a:latin typeface="Arial"/>
                  <a:ea typeface="Arial"/>
                  <a:cs typeface="Arial"/>
                  <a:sym typeface="Arial"/>
                </a:rPr>
                <a:t>• Early warning </a:t>
              </a:r>
              <a:r>
                <a:rPr lang="en-GB" sz="1000" b="1">
                  <a:solidFill>
                    <a:srgbClr val="000000"/>
                  </a:solidFill>
                  <a:latin typeface="Arial"/>
                  <a:ea typeface="Arial"/>
                  <a:cs typeface="Arial"/>
                  <a:sym typeface="Arial"/>
                </a:rPr>
                <a:t>support tool</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Mandatory </a:t>
              </a:r>
              <a:r>
                <a:rPr lang="en-GB" sz="1000" b="1">
                  <a:solidFill>
                    <a:srgbClr val="000000"/>
                  </a:solidFill>
                  <a:latin typeface="Arial"/>
                  <a:ea typeface="Arial"/>
                  <a:cs typeface="Arial"/>
                  <a:sym typeface="Arial"/>
                </a:rPr>
                <a:t>human oversight</a:t>
              </a:r>
              <a:r>
                <a:rPr lang="en-GB" sz="1000" b="0">
                  <a:solidFill>
                    <a:srgbClr val="333333"/>
                  </a:solidFill>
                  <a:latin typeface="Arial"/>
                  <a:ea typeface="Arial"/>
                  <a:cs typeface="Arial"/>
                  <a:sym typeface="Arial"/>
                </a:rPr>
                <a:t>.</a:t>
              </a:r>
              <a:endParaRPr sz="1000" b="0">
                <a:solidFill>
                  <a:srgbClr val="333333"/>
                </a:solidFill>
                <a:latin typeface="Arial"/>
                <a:ea typeface="Arial"/>
                <a:cs typeface="Arial"/>
                <a:sym typeface="Arial"/>
              </a:endParaRPr>
            </a:p>
            <a:p>
              <a:pPr marL="0" lvl="0" indent="0" algn="l" rtl="0">
                <a:spcBef>
                  <a:spcPts val="300"/>
                </a:spcBef>
                <a:spcAft>
                  <a:spcPts val="0"/>
                </a:spcAft>
                <a:buNone/>
              </a:pPr>
              <a:r>
                <a:rPr lang="en-GB" sz="1000" b="0">
                  <a:solidFill>
                    <a:srgbClr val="333333"/>
                  </a:solidFill>
                  <a:latin typeface="Arial"/>
                  <a:ea typeface="Arial"/>
                  <a:cs typeface="Arial"/>
                  <a:sym typeface="Arial"/>
                </a:rPr>
                <a:t>• Ethical deployment focus.</a:t>
              </a:r>
              <a:endParaRPr sz="1000" b="0">
                <a:solidFill>
                  <a:srgbClr val="333333"/>
                </a:solidFill>
                <a:latin typeface="Arial"/>
                <a:ea typeface="Arial"/>
                <a:cs typeface="Arial"/>
                <a:sym typeface="Arial"/>
              </a:endParaRPr>
            </a:p>
          </p:txBody>
        </p:sp>
      </p:grpSp>
      <p:sp>
        <p:nvSpPr>
          <p:cNvPr id="643" name="Google Shape;643;p55"/>
          <p:cNvSpPr txBox="1"/>
          <p:nvPr/>
        </p:nvSpPr>
        <p:spPr>
          <a:xfrm>
            <a:off x="6553200" y="4762500"/>
            <a:ext cx="21336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GB" sz="1000">
                <a:solidFill>
                  <a:srgbClr val="898989"/>
                </a:solidFill>
                <a:latin typeface="Calibri"/>
                <a:ea typeface="Calibri"/>
                <a:cs typeface="Calibri"/>
                <a:sym typeface="Calibri"/>
              </a:rPr>
              <a:t>42</a:t>
            </a:fld>
            <a:endParaRPr sz="1000">
              <a:solidFill>
                <a:srgbClr val="898989"/>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56"/>
          <p:cNvSpPr txBox="1"/>
          <p:nvPr/>
        </p:nvSpPr>
        <p:spPr>
          <a:xfrm>
            <a:off x="0" y="914400"/>
            <a:ext cx="9144000" cy="57000"/>
          </a:xfrm>
          <a:prstGeom prst="rect">
            <a:avLst/>
          </a:prstGeom>
          <a:solidFill>
            <a:schemeClr val="accent2">
              <a:alpha val="48240"/>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9" name="Google Shape;649;p56"/>
          <p:cNvSpPr txBox="1"/>
          <p:nvPr/>
        </p:nvSpPr>
        <p:spPr>
          <a:xfrm>
            <a:off x="124690" y="1026650"/>
            <a:ext cx="8894700" cy="3864900"/>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RESULT:</a:t>
            </a:r>
            <a:endParaRPr sz="1400" b="0" i="0" u="none" strike="noStrike" cap="none" dirty="0">
              <a:solidFill>
                <a:schemeClr val="dk1"/>
              </a:solidFill>
              <a:latin typeface="Times New Roman"/>
              <a:ea typeface="Times New Roman"/>
              <a:cs typeface="Times New Roman"/>
              <a:sym typeface="Times New Roman"/>
            </a:endParaRPr>
          </a:p>
          <a:p>
            <a:r>
              <a:rPr lang="en-IN" sz="1800" dirty="0"/>
              <a:t>The developed system successfully </a:t>
            </a:r>
            <a:r>
              <a:rPr lang="en-IN" sz="1800" dirty="0" err="1"/>
              <a:t>analyzes</a:t>
            </a:r>
            <a:r>
              <a:rPr lang="en-IN" sz="1800" dirty="0"/>
              <a:t> uploaded images using the Gemini 2.5 Flash multimodal model to generate accurate scene descriptions, identify landmarks, and estimate the probable geographical location. It effectively classifies the risk level of the </a:t>
            </a:r>
            <a:r>
              <a:rPr lang="en-IN" sz="1800" dirty="0" err="1"/>
              <a:t>analyzed</a:t>
            </a:r>
            <a:r>
              <a:rPr lang="en-IN" sz="1800" dirty="0"/>
              <a:t> image and provides appropriate actions such as </a:t>
            </a:r>
            <a:r>
              <a:rPr lang="en-IN" sz="1800" b="1" dirty="0"/>
              <a:t>Learn More</a:t>
            </a:r>
            <a:r>
              <a:rPr lang="en-IN" sz="1800" dirty="0"/>
              <a:t>, </a:t>
            </a:r>
            <a:r>
              <a:rPr lang="en-IN" sz="1800" b="1" dirty="0"/>
              <a:t>Open Map</a:t>
            </a:r>
            <a:r>
              <a:rPr lang="en-IN" sz="1800" dirty="0"/>
              <a:t>, or </a:t>
            </a:r>
            <a:r>
              <a:rPr lang="en-IN" sz="1800" b="1" dirty="0"/>
              <a:t>Report Incident</a:t>
            </a:r>
            <a:r>
              <a:rPr lang="en-IN" sz="1800" dirty="0"/>
              <a:t> based on the detected context. The system also securely stores all model outputs, user actions, and confirmed incident reports in the SQLite database, ensuring reliable performance, traceability, and auditability.</a:t>
            </a:r>
          </a:p>
          <a:p>
            <a:pPr marL="457200" marR="0" lvl="0" indent="0" algn="just" rtl="0">
              <a:lnSpc>
                <a:spcPct val="100000"/>
              </a:lnSpc>
              <a:spcBef>
                <a:spcPts val="0"/>
              </a:spcBef>
              <a:spcAft>
                <a:spcPts val="0"/>
              </a:spcAft>
              <a:buClr>
                <a:srgbClr val="000000"/>
              </a:buClr>
              <a:buSzPts val="37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650" name="Google Shape;650;p56"/>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43</a:t>
            </a:fld>
            <a:endParaRPr sz="1400" b="0" i="0" u="none" strike="noStrike" cap="none">
              <a:solidFill>
                <a:srgbClr val="000000"/>
              </a:solidFill>
              <a:latin typeface="Arial"/>
              <a:ea typeface="Arial"/>
              <a:cs typeface="Arial"/>
              <a:sym typeface="Arial"/>
            </a:endParaRPr>
          </a:p>
        </p:txBody>
      </p:sp>
      <p:pic>
        <p:nvPicPr>
          <p:cNvPr id="651" name="Google Shape;651;p56"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57"/>
          <p:cNvSpPr txBox="1"/>
          <p:nvPr/>
        </p:nvSpPr>
        <p:spPr>
          <a:xfrm>
            <a:off x="0" y="914400"/>
            <a:ext cx="9144000" cy="57000"/>
          </a:xfrm>
          <a:prstGeom prst="rect">
            <a:avLst/>
          </a:prstGeom>
          <a:solidFill>
            <a:schemeClr val="accent2">
              <a:alpha val="48240"/>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7" name="Google Shape;657;p57"/>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44</a:t>
            </a:fld>
            <a:endParaRPr sz="1400" b="0" i="0" u="none" strike="noStrike" cap="none">
              <a:solidFill>
                <a:srgbClr val="000000"/>
              </a:solidFill>
              <a:latin typeface="Arial"/>
              <a:ea typeface="Arial"/>
              <a:cs typeface="Arial"/>
              <a:sym typeface="Arial"/>
            </a:endParaRPr>
          </a:p>
        </p:txBody>
      </p:sp>
      <p:pic>
        <p:nvPicPr>
          <p:cNvPr id="658" name="Google Shape;658;p57"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
        <p:nvSpPr>
          <p:cNvPr id="659" name="Google Shape;659;p57"/>
          <p:cNvSpPr txBox="1"/>
          <p:nvPr/>
        </p:nvSpPr>
        <p:spPr>
          <a:xfrm>
            <a:off x="124700" y="1026650"/>
            <a:ext cx="8894700" cy="2697900"/>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CONCLUSION:</a:t>
            </a:r>
            <a:endParaRPr sz="1400" b="0" i="0" u="none" strike="noStrike" cap="none" dirty="0">
              <a:solidFill>
                <a:schemeClr val="dk1"/>
              </a:solidFill>
              <a:latin typeface="Times New Roman"/>
              <a:ea typeface="Times New Roman"/>
              <a:cs typeface="Times New Roman"/>
              <a:sym typeface="Times New Roman"/>
            </a:endParaRPr>
          </a:p>
          <a:p>
            <a:pPr lvl="0">
              <a:spcBef>
                <a:spcPts val="800"/>
              </a:spcBef>
              <a:buClr>
                <a:schemeClr val="dk1"/>
              </a:buClr>
              <a:buSzPts val="1100"/>
            </a:pPr>
            <a:r>
              <a:rPr lang="en-GB" sz="1700" dirty="0">
                <a:solidFill>
                  <a:schemeClr val="dk1"/>
                </a:solidFill>
                <a:latin typeface="Times New Roman"/>
                <a:ea typeface="Times New Roman"/>
                <a:cs typeface="Times New Roman"/>
                <a:sym typeface="Times New Roman"/>
              </a:rPr>
              <a:t>•</a:t>
            </a:r>
            <a:r>
              <a:rPr lang="en-IN" sz="1800" dirty="0"/>
              <a:t> Developed an intelligent image geolocation system using Gemini 2.5 Flash. Provides accurate scene understanding and location prediction. Detects hazards and generates suitable actions. Maintains secure logging and improves user decision-making.</a:t>
            </a:r>
            <a:r>
              <a:rPr lang="en-US" sz="1700" dirty="0">
                <a:solidFill>
                  <a:schemeClr val="dk1"/>
                </a:solidFill>
                <a:latin typeface="Times New Roman"/>
                <a:ea typeface="Times New Roman"/>
                <a:cs typeface="Times New Roman"/>
                <a:sym typeface="Times New Roman"/>
              </a:rPr>
              <a:t>.</a:t>
            </a:r>
          </a:p>
          <a:p>
            <a:pPr marL="0" lvl="0" indent="0" algn="l" rtl="0">
              <a:lnSpc>
                <a:spcPct val="100000"/>
              </a:lnSpc>
              <a:spcBef>
                <a:spcPts val="800"/>
              </a:spcBef>
              <a:spcAft>
                <a:spcPts val="0"/>
              </a:spcAft>
              <a:buClr>
                <a:schemeClr val="dk1"/>
              </a:buClr>
              <a:buSzPts val="1100"/>
              <a:buFont typeface="Arial"/>
              <a:buNone/>
            </a:pPr>
            <a:endParaRPr sz="1700" dirty="0">
              <a:solidFill>
                <a:schemeClr val="dk1"/>
              </a:solidFill>
              <a:latin typeface="Times New Roman"/>
              <a:ea typeface="Times New Roman"/>
              <a:cs typeface="Times New Roman"/>
              <a:sym typeface="Times New Roman"/>
            </a:endParaRPr>
          </a:p>
          <a:p>
            <a:pPr marL="0" marR="0" lvl="0" indent="0" algn="just" rtl="0">
              <a:lnSpc>
                <a:spcPct val="115000"/>
              </a:lnSpc>
              <a:spcBef>
                <a:spcPts val="80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8"/>
          <p:cNvSpPr txBox="1"/>
          <p:nvPr/>
        </p:nvSpPr>
        <p:spPr>
          <a:xfrm>
            <a:off x="0" y="914400"/>
            <a:ext cx="9144000" cy="57000"/>
          </a:xfrm>
          <a:prstGeom prst="rect">
            <a:avLst/>
          </a:prstGeom>
          <a:solidFill>
            <a:schemeClr val="accent2">
              <a:alpha val="48240"/>
            </a:schemeClr>
          </a:solidFill>
          <a:ln w="25400" cap="flat" cmpd="sng">
            <a:solidFill>
              <a:srgbClr val="A0D3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5" name="Google Shape;665;p58"/>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GB" sz="1200" b="0" i="0" u="none" strike="noStrike" cap="none">
                <a:solidFill>
                  <a:srgbClr val="898989"/>
                </a:solidFill>
                <a:latin typeface="Calibri"/>
                <a:ea typeface="Calibri"/>
                <a:cs typeface="Calibri"/>
                <a:sym typeface="Calibri"/>
              </a:rPr>
              <a:t>45</a:t>
            </a:fld>
            <a:endParaRPr sz="1400" b="0" i="0" u="none" strike="noStrike" cap="none">
              <a:solidFill>
                <a:srgbClr val="000000"/>
              </a:solidFill>
              <a:latin typeface="Arial"/>
              <a:ea typeface="Arial"/>
              <a:cs typeface="Arial"/>
              <a:sym typeface="Arial"/>
            </a:endParaRPr>
          </a:p>
        </p:txBody>
      </p:sp>
      <p:pic>
        <p:nvPicPr>
          <p:cNvPr id="666" name="Google Shape;666;p58" descr="C:\Users\DELL\Desktop\pccoer.jpg"/>
          <p:cNvPicPr preferRelativeResize="0"/>
          <p:nvPr/>
        </p:nvPicPr>
        <p:blipFill rotWithShape="1">
          <a:blip r:embed="rId3">
            <a:alphaModFix/>
          </a:blip>
          <a:srcRect/>
          <a:stretch/>
        </p:blipFill>
        <p:spPr>
          <a:xfrm>
            <a:off x="3657600" y="0"/>
            <a:ext cx="1371600" cy="910828"/>
          </a:xfrm>
          <a:prstGeom prst="rect">
            <a:avLst/>
          </a:prstGeom>
          <a:noFill/>
          <a:ln>
            <a:noFill/>
          </a:ln>
        </p:spPr>
      </p:pic>
      <p:sp>
        <p:nvSpPr>
          <p:cNvPr id="667" name="Google Shape;667;p58"/>
          <p:cNvSpPr txBox="1"/>
          <p:nvPr/>
        </p:nvSpPr>
        <p:spPr>
          <a:xfrm>
            <a:off x="124690" y="1026650"/>
            <a:ext cx="8894700" cy="3864900"/>
          </a:xfrm>
          <a:prstGeom prst="rect">
            <a:avLst/>
          </a:prstGeom>
          <a:noFill/>
          <a:ln>
            <a:noFill/>
          </a:ln>
        </p:spPr>
        <p:txBody>
          <a:bodyPr spcFirstLastPara="1" wrap="square" lIns="91425" tIns="45700" rIns="91425" bIns="45700" anchor="t" anchorCtr="0">
            <a:noAutofit/>
          </a:bodyPr>
          <a:lstStyle/>
          <a:p>
            <a:pPr marL="114300" marR="0" lvl="0" indent="0" algn="just" rtl="0">
              <a:lnSpc>
                <a:spcPct val="115000"/>
              </a:lnSpc>
              <a:spcBef>
                <a:spcPts val="1200"/>
              </a:spcBef>
              <a:spcAft>
                <a:spcPts val="0"/>
              </a:spcAft>
              <a:buClr>
                <a:srgbClr val="000000"/>
              </a:buClr>
              <a:buSzPts val="2200"/>
              <a:buFont typeface="Arial"/>
              <a:buNone/>
            </a:pPr>
            <a:r>
              <a:rPr lang="en-GB" sz="2200" b="1" i="0" u="none" strike="noStrike" cap="none" dirty="0">
                <a:solidFill>
                  <a:schemeClr val="dk1"/>
                </a:solidFill>
                <a:latin typeface="Times New Roman"/>
                <a:ea typeface="Times New Roman"/>
                <a:cs typeface="Times New Roman"/>
                <a:sym typeface="Times New Roman"/>
              </a:rPr>
              <a:t>CONCLUSION:</a:t>
            </a:r>
            <a:endParaRPr sz="1400" b="0" i="0" u="none" strike="noStrike" cap="none" dirty="0">
              <a:solidFill>
                <a:schemeClr val="dk1"/>
              </a:solidFill>
              <a:latin typeface="Times New Roman"/>
              <a:ea typeface="Times New Roman"/>
              <a:cs typeface="Times New Roman"/>
              <a:sym typeface="Times New Roman"/>
            </a:endParaRPr>
          </a:p>
          <a:p>
            <a:r>
              <a:rPr lang="en-IN" sz="1800" dirty="0"/>
              <a:t>The proposed system demonstrates an effective approach for image geolocation and hazard-aware response by utilizing the Gemini 2.5 Flash multimodal model. It accurately interprets uploaded images, estimates their probable locations, identifies significant landmarks, and evaluates potential risks. Based on the analysis, the system provides relevant user actions while maintaining secure storage of analysis results and user interactions. Overall, the solution enhances image understanding, supports informed decision-making, and provides a reliable foundation for future AI-driven geolocation applications.</a:t>
            </a:r>
          </a:p>
          <a:p>
            <a:pPr marL="0" marR="0" lvl="0" indent="0" algn="just" rtl="0">
              <a:lnSpc>
                <a:spcPct val="115000"/>
              </a:lnSpc>
              <a:spcBef>
                <a:spcPts val="80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3700"/>
              <a:buFont typeface="Arial"/>
              <a:buNone/>
            </a:pPr>
            <a:endParaRPr sz="1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Future Work</a:t>
            </a:r>
          </a:p>
          <a:p>
            <a:r>
              <a:rPr sz="2000"/>
              <a:t xml:space="preserve">● Vector retrieval and embedding-based search for geospatial accuracy</a:t>
            </a:r>
          </a:p>
          <a:p>
            <a:r>
              <a:rPr sz="2000"/>
              <a:t xml:space="preserve">● Dedicated OCR subsystem for text-in-scene extraction</a:t>
            </a:r>
          </a:p>
          <a:p>
            <a:r>
              <a:rPr sz="2000"/>
              <a:t xml:space="preserve">● Confidence calibration using conformal prediction</a:t>
            </a:r>
          </a:p>
          <a:p>
            <a:r>
              <a:rPr sz="2000"/>
              <a:t xml:space="preserve">● Expanded hazard categories (flood, accident, collapse, etc.)</a:t>
            </a:r>
          </a:p>
          <a:p>
            <a:r>
              <a:rPr sz="2000"/>
              <a:t xml:space="preserve">● Role-based access control and incident review workflows</a:t>
            </a:r>
          </a:p>
          <a:p>
            <a:r>
              <a:rPr sz="2000"/>
              <a:t xml:space="preserve">● Real-time dashboard analytics for safety teams</a:t>
            </a:r>
          </a:p>
          <a:p>
            <a:r>
              <a:rPr sz="2000"/>
              <a:t xml:space="preserve">● Larger labelled evaluation dataset for precision/recall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Research Publications</a:t>
            </a:r>
          </a:p>
          <a:p>
            <a:r>
              <a:rPr sz="1800"/>
              <a:t xml:space="preserve">● International Conference on Interdisciplinary Technology</a:t>
            </a:r>
          </a:p>
          <a:p>
            <a:r>
              <a:rPr sz="1800"/>
              <a:t xml:space="preserve">  &amp; Science Convergence (FusionX Global) — Scitepress</a:t>
            </a:r>
          </a:p>
          <a:p>
            <a:r>
              <a:rPr sz="1800"/>
              <a:t xml:space="preserve">  Status: Accepted and Presented</a:t>
            </a:r>
          </a:p>
          <a:p>
            <a:r>
              <a:rPr sz="1800"/>
              <a:t xml:space="preserve"/>
            </a:r>
          </a:p>
          <a:p>
            <a:r>
              <a:rPr sz="1800"/>
              <a:t xml:space="preserve">● IEEE ESCI 2026 — Emerging Smart Computing and Informatics</a:t>
            </a:r>
          </a:p>
          <a:p>
            <a:r>
              <a:rPr sz="1800"/>
              <a:t xml:space="preserve">  Status: Accepted and Published</a:t>
            </a:r>
          </a:p>
          <a:p>
            <a:r>
              <a:rPr sz="1800"/>
              <a:t xml:space="preserve"/>
            </a:r>
          </a:p>
          <a:p>
            <a:r>
              <a:rPr sz="1800"/>
              <a:t xml:space="preserve">● Research Paper: Image Geolocation and Hazard-Aware Response</a:t>
            </a:r>
          </a:p>
          <a:p>
            <a:r>
              <a:rPr sz="1800"/>
              <a:t xml:space="preserve">  Using Multimodal Large Language Models (MLLMs)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48</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Literature Survey Summary</a:t>
            </a:r>
          </a:p>
          <a:p>
            <a:r>
              <a:rPr sz="2000"/>
              <a:t xml:space="preserve">● CLIP (Radford et al., 2021): Image-text contrastive pretraining</a:t>
            </a:r>
          </a:p>
          <a:p>
            <a:r>
              <a:rPr sz="2000"/>
              <a:t xml:space="preserve">● Gemini (Gemini Team, 2024): Multimodal model family</a:t>
            </a:r>
          </a:p>
          <a:p>
            <a:r>
              <a:rPr sz="2000"/>
              <a:t xml:space="preserve">● PIGEON (Haas et al., 2024): Foundation model geolocation</a:t>
            </a:r>
          </a:p>
          <a:p>
            <a:r>
              <a:rPr sz="2000"/>
              <a:t xml:space="preserve">● Img2Loc (Zhou et al., 2024): Retrieval-augmented geolocation</a:t>
            </a:r>
          </a:p>
          <a:p>
            <a:r>
              <a:rPr sz="2000"/>
              <a:t xml:space="preserve">● GeoChain (Yerramilli et al., 2025): Chain-of-thought reasoning</a:t>
            </a:r>
          </a:p>
          <a:p>
            <a:r>
              <a:rPr sz="2000"/>
              <a:t xml:space="preserve">● BLIP-2 (Li et al., 2023): Vision-language pretraining</a:t>
            </a:r>
          </a:p>
          <a:p>
            <a:r>
              <a:rPr sz="2000"/>
              <a:t xml:space="preserve">● LLaVA (Liu et al., 2024): Visual instruction tuning</a:t>
            </a:r>
          </a:p>
          <a:p>
            <a:r>
              <a:rPr sz="2000"/>
              <a:t xml:space="preserve">● NetVLAD (Arandjelovic et al., 2016): Place recognition</a:t>
            </a:r>
          </a:p>
          <a:p>
            <a:r>
              <a:rPr sz="2000"/>
              <a:t xml:space="preserve">Gap: Most optimize accuracy; none integrate hazard-aware actions + audit logging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49</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Workflow</a:t>
            </a:r>
          </a:p>
          <a:p>
            <a:r>
              <a:rPr sz="2000"/>
              <a:t xml:space="preserve">1. Image Upload — Backend validates format, size, generates hash</a:t>
            </a:r>
          </a:p>
          <a:p>
            <a:r>
              <a:rPr sz="2000"/>
              <a:t xml:space="preserve">2. Gemini Vision — Scene understanding, landmark recognition</a:t>
            </a:r>
          </a:p>
          <a:p>
            <a:r>
              <a:rPr sz="2000"/>
              <a:t xml:space="preserve">3. Structured JSON — Summary, risk, confidence, entities, location</a:t>
            </a:r>
          </a:p>
          <a:p>
            <a:r>
              <a:rPr sz="2000"/>
              <a:t xml:space="preserve">4. JSON Normalization — Validate fields, repair if needed</a:t>
            </a:r>
          </a:p>
          <a:p>
            <a:r>
              <a:rPr sz="2000"/>
              <a:t xml:space="preserve">5. Risk Policy — Keyword detection, confidence rules, action mapping</a:t>
            </a:r>
          </a:p>
          <a:p>
            <a:r>
              <a:rPr sz="2000"/>
              <a:t xml:space="preserve">6. Action Generation — Report / Learn More / Open Map / Safety Tips</a:t>
            </a:r>
          </a:p>
          <a:p>
            <a:r>
              <a:rPr sz="2000"/>
              <a:t xml:space="preserve">7. User Interaction — Views analysis, selects action</a:t>
            </a:r>
          </a:p>
          <a:p>
            <a:r>
              <a:rPr sz="2000"/>
              <a:t xml:space="preserve">8. Persistence — All records stored in SQLite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Data Flow Overview</a:t>
            </a:r>
          </a:p>
          <a:p>
            <a:r>
              <a:rPr sz="1800"/>
              <a:t xml:space="preserve">User → Flask API → Gemini Vision → JSON Parser →</a:t>
            </a:r>
          </a:p>
          <a:p>
            <a:r>
              <a:rPr sz="1800"/>
              <a:t xml:space="preserve">  Policy Engine → Action Mapper → User</a:t>
            </a:r>
          </a:p>
          <a:p>
            <a:r>
              <a:rPr sz="1800"/>
              <a:t xml:space="preserve"/>
            </a:r>
          </a:p>
          <a:p>
            <a:r>
              <a:rPr sz="1800"/>
              <a:t xml:space="preserve">● User uploads image — Flask validates and hashes</a:t>
            </a:r>
          </a:p>
          <a:p>
            <a:r>
              <a:rPr sz="1800"/>
              <a:t xml:space="preserve">● Gemini analyzes — returns structured JSON</a:t>
            </a:r>
          </a:p>
          <a:p>
            <a:r>
              <a:rPr sz="1800"/>
              <a:t xml:space="preserve">● Parser normalizes fields — Policy applies rules</a:t>
            </a:r>
          </a:p>
          <a:p>
            <a:r>
              <a:rPr sz="1800"/>
              <a:t xml:space="preserve">● Action Mapper generates buttons — User interacts</a:t>
            </a:r>
          </a:p>
          <a:p>
            <a:r>
              <a:rPr sz="1800"/>
              <a:t xml:space="preserve">● All steps persisted in SQLite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51</a:t>
            </a:r>
          </a:p>
        </p:txBody>
      </p:sp>
      <p:sp>
        <p:nvSpPr>
          <p:cNvPr id="4" name="TextBox 3"/>
          <p:cNvSpPr txBox="1"/>
          <p:nvPr/>
        </p:nvSpPr>
        <p:spPr>
          <a:xfrm>
            <a:off x="124690" y="1026650"/>
            <a:ext cx="8894620" cy="800000"/>
          </a:xfrm>
          <a:prstGeom prst="rect">
            <a:avLst/>
          </a:prstGeom>
          <a:noFill/>
        </p:spPr>
        <p:txBody>
          <a:bodyPr wrap="square">
            <a:spAutoFit/>
          </a:bodyPr>
          <a:lstStyle/>
          <a:p>
            <a:r>
              <a:rPr sz="2200" b="1"/>
              <a:t xml:space="preserve">State Transition Diagram</a:t>
            </a:r>
          </a:p>
        </p:txBody>
      </p:sp>
      <p:pic>
        <p:nvPicPr>
          <p:cNvPr id="5" name="Picture 4" descr="state_transition.png"/>
          <p:cNvPicPr>
            <a:picLocks noChangeAspect="1"/>
          </p:cNvPicPr>
          <p:nvPr/>
        </p:nvPicPr>
        <p:blipFill>
          <a:blip r:embed="rId4"/>
          <a:stretch>
            <a:fillRect/>
          </a:stretch>
        </p:blipFill>
        <p:spPr>
          <a:xfrm>
            <a:off x="0" y="1800000"/>
            <a:ext cx="9144000" cy="3300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721"/>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52</a:t>
            </a:r>
          </a:p>
        </p:txBody>
      </p:sp>
      <p:sp>
        <p:nvSpPr>
          <p:cNvPr id="4" name="TextBox 3"/>
          <p:cNvSpPr txBox="1"/>
          <p:nvPr/>
        </p:nvSpPr>
        <p:spPr>
          <a:xfrm>
            <a:off x="124690" y="1026650"/>
            <a:ext cx="8894620" cy="800000"/>
          </a:xfrm>
          <a:prstGeom prst="rect">
            <a:avLst/>
          </a:prstGeom>
          <a:noFill/>
        </p:spPr>
        <p:txBody>
          <a:bodyPr wrap="square">
            <a:spAutoFit/>
          </a:bodyPr>
          <a:lstStyle/>
          <a:p>
            <a:r>
              <a:rPr sz="2200" b="1"/>
              <a:t xml:space="preserve">Use Case Diagram</a:t>
            </a:r>
          </a:p>
        </p:txBody>
      </p:sp>
      <p:pic>
        <p:nvPicPr>
          <p:cNvPr id="5" name="Picture 4" descr="use-case.png"/>
          <p:cNvPicPr>
            <a:picLocks noChangeAspect="1"/>
          </p:cNvPicPr>
          <p:nvPr/>
        </p:nvPicPr>
        <p:blipFill>
          <a:blip r:embed="rId4"/>
          <a:stretch>
            <a:fillRect/>
          </a:stretch>
        </p:blipFill>
        <p:spPr>
          <a:xfrm>
            <a:off x="0" y="1800000"/>
            <a:ext cx="9144000" cy="3300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729"/>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53</a:t>
            </a:r>
          </a:p>
        </p:txBody>
      </p:sp>
      <p:sp>
        <p:nvSpPr>
          <p:cNvPr id="4" name="TextBox 3"/>
          <p:cNvSpPr txBox="1"/>
          <p:nvPr/>
        </p:nvSpPr>
        <p:spPr>
          <a:xfrm>
            <a:off x="124690" y="1026650"/>
            <a:ext cx="8894620" cy="800000"/>
          </a:xfrm>
          <a:prstGeom prst="rect">
            <a:avLst/>
          </a:prstGeom>
          <a:noFill/>
        </p:spPr>
        <p:txBody>
          <a:bodyPr wrap="square">
            <a:spAutoFit/>
          </a:bodyPr>
          <a:lstStyle/>
          <a:p>
            <a:r>
              <a:rPr sz="2200" b="1"/>
              <a:t xml:space="preserve">Deployment Architecture</a:t>
            </a:r>
          </a:p>
        </p:txBody>
      </p:sp>
      <p:pic>
        <p:nvPicPr>
          <p:cNvPr id="5" name="Picture 4" descr="ufd.png"/>
          <p:cNvPicPr>
            <a:picLocks noChangeAspect="1"/>
          </p:cNvPicPr>
          <p:nvPr/>
        </p:nvPicPr>
        <p:blipFill>
          <a:blip r:embed="rId4"/>
          <a:stretch>
            <a:fillRect/>
          </a:stretch>
        </p:blipFill>
        <p:spPr>
          <a:xfrm>
            <a:off x="500000" y="2200000"/>
            <a:ext cx="8000000" cy="2800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737"/>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54</a:t>
            </a:r>
          </a:p>
        </p:txBody>
      </p:sp>
      <p:sp>
        <p:nvSpPr>
          <p:cNvPr id="4" name="TextBox 3"/>
          <p:cNvSpPr txBox="1"/>
          <p:nvPr/>
        </p:nvSpPr>
        <p:spPr>
          <a:xfrm>
            <a:off x="124690" y="910825"/>
            <a:ext cx="8894620" cy="800000"/>
          </a:xfrm>
          <a:prstGeom prst="rect">
            <a:avLst/>
          </a:prstGeom>
          <a:noFill/>
        </p:spPr>
        <p:txBody>
          <a:bodyPr wrap="square">
            <a:spAutoFit/>
          </a:bodyPr>
          <a:lstStyle/>
          <a:p>
            <a:r>
              <a:rPr sz="2200" b="1"/>
              <a:t xml:space="preserve">Test Images: Shaniwar Wada</a:t>
            </a:r>
          </a:p>
        </p:txBody>
      </p:sp>
      <p:sp>
        <p:nvSpPr>
          <p:cNvPr id="5" name="TextBox 4"/>
          <p:cNvSpPr txBox="1"/>
          <p:nvPr/>
        </p:nvSpPr>
        <p:spPr>
          <a:xfrm>
            <a:off x="300000" y="1700000"/>
            <a:ext cx="4000000" cy="600000"/>
          </a:xfrm>
          <a:prstGeom prst="rect">
            <a:avLst/>
          </a:prstGeom>
          <a:noFill/>
        </p:spPr>
        <p:txBody>
          <a:bodyPr wrap="square">
            <a:spAutoFit/>
          </a:bodyPr>
          <a:lstStyle/>
          <a:p>
            <a:r>
              <a:rPr sz="1800"/>
              <a:t xml:space="preserve">(a) Regular — Low Risk · Conf 0.95 · Learn More</a:t>
            </a:r>
          </a:p>
        </p:txBody>
      </p:sp>
      <p:sp>
        <p:nvSpPr>
          <p:cNvPr id="6" name="TextBox 5"/>
          <p:cNvSpPr txBox="1"/>
          <p:nvPr/>
        </p:nvSpPr>
        <p:spPr>
          <a:xfrm>
            <a:off x="4700000" y="1700000"/>
            <a:ext cx="4000000" cy="600000"/>
          </a:xfrm>
          <a:prstGeom prst="rect">
            <a:avLst/>
          </a:prstGeom>
          <a:noFill/>
        </p:spPr>
        <p:txBody>
          <a:bodyPr wrap="square">
            <a:spAutoFit/>
          </a:bodyPr>
          <a:lstStyle/>
          <a:p>
            <a:r>
              <a:rPr sz="1800"/>
              <a:t xml:space="preserve">(b) Fire-affected — High Risk · Conf 0.85 · Report</a:t>
            </a:r>
          </a:p>
        </p:txBody>
      </p:sp>
      <p:pic>
        <p:nvPicPr>
          <p:cNvPr id="7" name="Picture 6" descr="shaniwar_wada_cropped.jpg"/>
          <p:cNvPicPr>
            <a:picLocks noChangeAspect="1"/>
          </p:cNvPicPr>
          <p:nvPr/>
        </p:nvPicPr>
        <p:blipFill>
          <a:blip r:embed="rId4"/>
          <a:stretch>
            <a:fillRect/>
          </a:stretch>
        </p:blipFill>
        <p:spPr>
          <a:xfrm>
            <a:off x="300000" y="2300000"/>
            <a:ext cx="4000000" cy="2600000"/>
          </a:xfrm>
          <a:prstGeom prst="rect">
            <a:avLst/>
          </a:prstGeom>
        </p:spPr>
      </p:pic>
      <p:pic>
        <p:nvPicPr>
          <p:cNvPr id="8" name="Picture 7" descr="shaniwar_wada_flames_cropped.png"/>
          <p:cNvPicPr>
            <a:picLocks noChangeAspect="1"/>
          </p:cNvPicPr>
          <p:nvPr/>
        </p:nvPicPr>
        <p:blipFill>
          <a:blip r:embed="rId5"/>
          <a:stretch>
            <a:fillRect/>
          </a:stretch>
        </p:blipFill>
        <p:spPr>
          <a:xfrm>
            <a:off x="4700000" y="2300000"/>
            <a:ext cx="4000000" cy="2600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74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55</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Test Case Results</a:t>
            </a:r>
          </a:p>
          <a:p>
            <a:r>
              <a:rPr sz="2000"/>
              <a:t xml:space="preserve">1. Upload and analyze image — PASS</a:t>
            </a:r>
          </a:p>
          <a:p>
            <a:r>
              <a:rPr sz="2000"/>
              <a:t xml:space="preserve">2. Normal landmark → low risk — PASS</a:t>
            </a:r>
          </a:p>
          <a:p>
            <a:r>
              <a:rPr sz="2000"/>
              <a:t xml:space="preserve">3. Hazardous image → high risk — PASS</a:t>
            </a:r>
          </a:p>
          <a:p>
            <a:r>
              <a:rPr sz="2000"/>
              <a:t xml:space="preserve">4. Report requires confirmation — PASS</a:t>
            </a:r>
          </a:p>
          <a:p>
            <a:r>
              <a:rPr sz="2000"/>
              <a:t xml:space="preserve">5. Invalid response → safe fallback — PASS</a:t>
            </a:r>
          </a:p>
          <a:p>
            <a:r>
              <a:rPr sz="2000"/>
              <a:t xml:space="preserve">6. Learn More fetches knowledge — PASS</a:t>
            </a:r>
          </a:p>
          <a:p>
            <a:r>
              <a:rPr sz="2000"/>
              <a:t xml:space="preserve">7. Model outputs saved in SQLite — PASS</a:t>
            </a:r>
          </a:p>
          <a:p>
            <a:r>
              <a:rPr sz="2000"/>
              <a:t xml:space="preserve">8. Actions logged in SQLite — PASS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75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Deployment Architecture</a:t>
            </a:r>
          </a:p>
          <a:p>
            <a:r>
              <a:rPr sz="2000"/>
              <a:t xml:space="preserve">● User Interface: React App (Vercel / Local)</a:t>
            </a:r>
          </a:p>
          <a:p>
            <a:r>
              <a:rPr sz="2000"/>
              <a:t xml:space="preserve">● Backend API: Python Flask (REST)</a:t>
            </a:r>
          </a:p>
          <a:p>
            <a:r>
              <a:rPr sz="2000"/>
              <a:t xml:space="preserve">● Multimodal Model: Gemini 2.5 Flash (Google API)</a:t>
            </a:r>
          </a:p>
          <a:p>
            <a:r>
              <a:rPr sz="2000"/>
              <a:t xml:space="preserve">● Database: SQLite (persistent audit store)</a:t>
            </a:r>
          </a:p>
          <a:p>
            <a:r>
              <a:rPr sz="2000"/>
              <a:t xml:space="preserve">● Notification: Twilio WhatsApp (optional)</a:t>
            </a:r>
          </a:p>
          <a:p>
            <a:r>
              <a:rPr sz="2000"/>
              <a:t xml:space="preserve">All components communicate via HTTPS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76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Run Log Dataset</a:t>
            </a:r>
          </a:p>
          <a:p>
            <a:r>
              <a:rPr sz="2000"/>
              <a:t xml:space="preserve">● Total analyzed runs: 22</a:t>
            </a:r>
          </a:p>
          <a:p>
            <a:r>
              <a:rPr sz="2000"/>
              <a:t xml:space="preserve">● Distinct user sessions: 14</a:t>
            </a:r>
          </a:p>
          <a:p>
            <a:r>
              <a:rPr sz="2000"/>
              <a:t xml:space="preserve">● Database: 5 tables (sessions, messages, model_outputs, actions, incidents)</a:t>
            </a:r>
          </a:p>
          <a:p>
            <a:r>
              <a:rPr sz="2000"/>
              <a:t xml:space="preserve">● Key design: Raw images not stored; image hash for traceability</a:t>
            </a:r>
          </a:p>
          <a:p>
            <a:r>
              <a:rPr sz="2000"/>
              <a:t xml:space="preserve">● All outputs, actions, incidents persisted for audit review</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773"/>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58</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System Components</a:t>
            </a:r>
          </a:p>
          <a:p>
            <a:r>
              <a:rPr sz="2000"/>
              <a:t xml:space="preserve">● React UI — Image upload, preview, chat, action buttons</a:t>
            </a:r>
          </a:p>
          <a:p>
            <a:r>
              <a:rPr sz="2000"/>
              <a:t xml:space="preserve">● Flask API — Request handling, validation, response construction</a:t>
            </a:r>
          </a:p>
          <a:p>
            <a:r>
              <a:rPr sz="2000"/>
              <a:t xml:space="preserve">● Gemini Vision — Multimodal analysis, structured output</a:t>
            </a:r>
          </a:p>
          <a:p>
            <a:r>
              <a:rPr sz="2000"/>
              <a:t xml:space="preserve">● Policy Engine — Risk normalization, keyword escalation</a:t>
            </a:r>
          </a:p>
          <a:p>
            <a:r>
              <a:rPr sz="2000"/>
              <a:t xml:space="preserve">● SQLite Store — Persistent audit logs</a:t>
            </a:r>
          </a:p>
          <a:p>
            <a:r>
              <a:rPr sz="2000"/>
              <a:t xml:space="preserve">All components communicate via REST APIs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782"/>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59</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API Endpoints</a:t>
            </a:r>
          </a:p>
          <a:p>
            <a:r>
              <a:rPr sz="2000"/>
              <a:t xml:space="preserve">● POST /api/analyze — Analyze image, return structured response + actions</a:t>
            </a:r>
          </a:p>
          <a:p>
            <a:r>
              <a:rPr sz="2000"/>
              <a:t xml:space="preserve">● POST /api/report — Create incident record (requires confirmation)</a:t>
            </a:r>
          </a:p>
          <a:p>
            <a:r>
              <a:rPr sz="2000"/>
              <a:t xml:space="preserve">● POST /api/learn-more — Fetch Wikipedia summary for entity</a:t>
            </a:r>
          </a:p>
          <a:p>
            <a:r>
              <a:rPr sz="2000"/>
              <a:t xml:space="preserve">● GET /api/health — Health check (API + DB status)</a:t>
            </a:r>
          </a:p>
          <a:p>
            <a:r>
              <a:rPr sz="2000"/>
              <a:t xml:space="preserve">All endpoints return JSON responses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790"/>
        <p:cNvGrpSpPr/>
        <p:nvPr/>
      </p:nvGrpSpPr>
      <p:grpSpPr>
        <a:xfrm>
          <a:off x="0" y="0"/>
          <a:ext cx="0" cy="0"/>
          <a:chOff x="0" y="0"/>
          <a:chExt cx="0" cy="0"/>
        </a:xfrm>
      </p:grpSpPr>
      <p:pic>
        <p:nvPicPr>
          <p:cNvPr id="2" name="Picture 1" descr="image.jpg"/>
          <p:cNvPicPr>
            <a:picLocks noChangeAspect="1"/>
          </p:cNvPicPr>
          <p:nvPr/>
        </p:nvPicPr>
        <p:blipFill>
          <a:blip r:embed="rId4"/>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60</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API Workflow</a:t>
            </a:r>
          </a:p>
          <a:p>
            <a:r>
              <a:rPr sz="2000"/>
              <a:t xml:space="preserve">1. Client sends POST /api/analyze with image file</a:t>
            </a:r>
          </a:p>
          <a:p>
            <a:r>
              <a:rPr sz="2000"/>
              <a:t xml:space="preserve">2. Backend validates format and size</a:t>
            </a:r>
          </a:p>
          <a:p>
            <a:r>
              <a:rPr sz="2000"/>
              <a:t xml:space="preserve">3. Image encoded as base64 for Gemini API</a:t>
            </a:r>
          </a:p>
          <a:p>
            <a:r>
              <a:rPr sz="2000"/>
              <a:t xml:space="preserve">4. Gemini Vision returns structured response</a:t>
            </a:r>
          </a:p>
          <a:p>
            <a:r>
              <a:rPr sz="2000"/>
              <a:t xml:space="preserve">5. JSON extracted, repaired if needed, normalized</a:t>
            </a:r>
          </a:p>
          <a:p>
            <a:r>
              <a:rPr sz="2000"/>
              <a:t xml:space="preserve">6. Risk policy evaluates output + hazard keywords</a:t>
            </a:r>
          </a:p>
          <a:p>
            <a:r>
              <a:rPr sz="2000"/>
              <a:t xml:space="preserve">7. Actions generated based on risk/confidence</a:t>
            </a:r>
          </a:p>
          <a:p>
            <a:r>
              <a:rPr sz="2000"/>
              <a:t xml:space="preserve">8. Records persisted in SQLite</a:t>
            </a:r>
          </a:p>
          <a:p>
            <a:r>
              <a:rPr sz="2000"/>
              <a:t xml:space="preserve">9. JSON response returned with action options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798"/>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61</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Risk Policy Details</a:t>
            </a:r>
          </a:p>
          <a:p>
            <a:r>
              <a:rPr sz="1800"/>
              <a:t xml:space="preserve">● Keywords scanned: fire, smoke, accident, disaster, emergency</a:t>
            </a:r>
          </a:p>
          <a:p>
            <a:r>
              <a:rPr sz="1800"/>
              <a:t xml:space="preserve">● Sources: summary, rationale, user context, location</a:t>
            </a:r>
          </a:p>
          <a:p>
            <a:r>
              <a:rPr sz="1800"/>
              <a:t xml:space="preserve">● Hazard + low model risk → override to high risk</a:t>
            </a:r>
          </a:p>
          <a:p>
            <a:r>
              <a:rPr sz="1800"/>
              <a:t xml:space="preserve"/>
            </a:r>
          </a:p>
          <a:p>
            <a:r>
              <a:rPr sz="1800"/>
              <a:t xml:space="preserve">● Confidence thresholds:</a:t>
            </a:r>
          </a:p>
          <a:p>
            <a:r>
              <a:rPr sz="1800"/>
              <a:t xml:space="preserve">    c &lt; 0.45 → ask for context</a:t>
            </a:r>
          </a:p>
          <a:p>
            <a:r>
              <a:rPr sz="1800"/>
              <a:t xml:space="preserve">    Low risk → learn-more + open map</a:t>
            </a:r>
          </a:p>
          <a:p>
            <a:r>
              <a:rPr sz="1800"/>
              <a:t xml:space="preserve">    High risk → report + safety tips</a:t>
            </a:r>
          </a:p>
          <a:p>
            <a:r>
              <a:rPr sz="1800"/>
              <a:t xml:space="preserve">    Hazard override: c = max(c_m, 0.72)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806"/>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62</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Hazard Classification Logic</a:t>
            </a:r>
          </a:p>
          <a:p>
            <a:r>
              <a:rPr sz="1800"/>
              <a:t xml:space="preserve">● Input: model output (risk_level, confidence, summary, entities)</a:t>
            </a:r>
          </a:p>
          <a:p>
            <a:r>
              <a:rPr sz="1800"/>
              <a:t xml:space="preserve">● Step 1: Scan hazard keywords in all text fields</a:t>
            </a:r>
          </a:p>
          <a:p>
            <a:r>
              <a:rPr sz="1800"/>
              <a:t xml:space="preserve">● Step 2: If detected → risk override to 'high'</a:t>
            </a:r>
          </a:p>
          <a:p>
            <a:r>
              <a:rPr sz="1800"/>
              <a:t xml:space="preserve">● Step 3: Normalize confidence with safety floor</a:t>
            </a:r>
          </a:p>
          <a:p>
            <a:r>
              <a:rPr sz="1800"/>
              <a:t xml:space="preserve">● Step 4: Map (risk, confidence) → deterministic action set</a:t>
            </a:r>
          </a:p>
          <a:p>
            <a:r>
              <a:rPr sz="1800"/>
              <a:t xml:space="preserve">● Step 5: Return actions + rationale to user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81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63</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Project Challenges</a:t>
            </a:r>
          </a:p>
          <a:p>
            <a:r>
              <a:rPr sz="2000"/>
              <a:t xml:space="preserve">● Geolocation from images with limited or ambiguous cues</a:t>
            </a:r>
          </a:p>
          <a:p>
            <a:r>
              <a:rPr sz="2000"/>
              <a:t xml:space="preserve">● Variation in image quality, lighting, camera angles</a:t>
            </a:r>
          </a:p>
          <a:p>
            <a:r>
              <a:rPr sz="2000"/>
              <a:t xml:space="preserve">● Reducing false hazard classifications while maintaining safety</a:t>
            </a:r>
          </a:p>
          <a:p>
            <a:r>
              <a:rPr sz="2000"/>
              <a:t xml:space="preserve">● Ensuring consistent structured JSON from multimodal model</a:t>
            </a:r>
          </a:p>
          <a:p>
            <a:r>
              <a:rPr sz="2000"/>
              <a:t xml:space="preserve">● Graceful handling of invalid/incomplete model responses</a:t>
            </a:r>
          </a:p>
          <a:p>
            <a:r>
              <a:rPr sz="2000"/>
              <a:t xml:space="preserve">● Response latency under 8 seconds</a:t>
            </a:r>
          </a:p>
          <a:p>
            <a:r>
              <a:rPr sz="2000"/>
              <a:t xml:space="preserve">● Secure API key management and privacy-conscious storage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823"/>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64</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Mitigation Strategies</a:t>
            </a:r>
          </a:p>
          <a:p>
            <a:r>
              <a:rPr sz="2000"/>
              <a:t xml:space="preserve">● Ambiguous scenes → conservative fallback, ask for context</a:t>
            </a:r>
          </a:p>
          <a:p>
            <a:r>
              <a:rPr sz="2000"/>
              <a:t xml:space="preserve">● Invalid JSON → auto-repair + safe fallback</a:t>
            </a:r>
          </a:p>
          <a:p>
            <a:r>
              <a:rPr sz="2000"/>
              <a:t xml:space="preserve">● Incorrect risk → deterministic policy + hazard override</a:t>
            </a:r>
          </a:p>
          <a:p>
            <a:r>
              <a:rPr sz="2000"/>
              <a:t xml:space="preserve">● False alerts → user confirmation required</a:t>
            </a:r>
          </a:p>
          <a:p>
            <a:r>
              <a:rPr sz="2000"/>
              <a:t xml:space="preserve">● API failure → error handling + fallback messaging</a:t>
            </a:r>
          </a:p>
          <a:p>
            <a:r>
              <a:rPr sz="2000"/>
              <a:t xml:space="preserve">● Privacy → image hash instead of raw storage</a:t>
            </a:r>
          </a:p>
          <a:p>
            <a:r>
              <a:rPr sz="2000"/>
              <a:t xml:space="preserve">All strategies logged for audit review</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835"/>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65</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Hazard Classification</a:t>
            </a:r>
          </a:p>
          <a:p>
            <a:r>
              <a:rPr sz="1800"/>
              <a:t xml:space="preserve">● Hazard detection via keyword matching in model outputs</a:t>
            </a:r>
          </a:p>
          <a:p>
            <a:r>
              <a:rPr sz="1800"/>
              <a:t xml:space="preserve">● Categories: fire, smoke, accident, disaster, emergency</a:t>
            </a:r>
          </a:p>
          <a:p>
            <a:r>
              <a:rPr sz="1800"/>
              <a:t xml:space="preserve">● Hazard + low model risk → override to high</a:t>
            </a:r>
          </a:p>
          <a:p>
            <a:r>
              <a:rPr sz="1800"/>
              <a:t xml:space="preserve">● Deterministic rules — consistent classification</a:t>
            </a:r>
          </a:p>
          <a:p>
            <a:r>
              <a:rPr sz="1800"/>
              <a:t xml:space="preserve">● Full audit trail for every decision</a:t>
            </a:r>
          </a:p>
          <a:p>
            <a:r>
              <a:rPr sz="1800"/>
              <a:t xml:space="preserve">● User can view rationale for each classification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Shape 844"/>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66</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Implementation Challenges</a:t>
            </a:r>
          </a:p>
          <a:p>
            <a:r>
              <a:rPr sz="1800"/>
              <a:t xml:space="preserve">● Ensuring consistent structured JSON from Gemini</a:t>
            </a:r>
          </a:p>
          <a:p>
            <a:r>
              <a:rPr sz="1800"/>
              <a:t xml:space="preserve">● Handling ambiguous scenes with limited landmarks</a:t>
            </a:r>
          </a:p>
          <a:p>
            <a:r>
              <a:rPr sz="1800"/>
              <a:t xml:space="preserve">● Balancing false alerts vs. safety coverage</a:t>
            </a:r>
          </a:p>
          <a:p>
            <a:r>
              <a:rPr sz="1800"/>
              <a:t xml:space="preserve">● Maintaining response latency under 8 seconds</a:t>
            </a:r>
          </a:p>
          <a:p>
            <a:r>
              <a:rPr sz="1800"/>
              <a:t xml:space="preserve">● Reliable JSON extraction and repair</a:t>
            </a:r>
          </a:p>
          <a:p>
            <a:r>
              <a:rPr sz="1800"/>
              <a:t xml:space="preserve">● API key security and environment management</a:t>
            </a:r>
          </a:p>
          <a:p>
            <a:r>
              <a:rPr sz="1800"/>
              <a:t xml:space="preserve">● Cross-platform compatibility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852"/>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3657600" y="0"/>
            <a:ext cx="1371600" cy="910828"/>
          </a:xfrm>
          <a:prstGeom prst="rect">
            <a:avLst/>
          </a:prstGeom>
        </p:spPr>
      </p:pic>
      <p:sp>
        <p:nvSpPr>
          <p:cNvPr id="3" name="TextBox 2"/>
          <p:cNvSpPr txBox="1"/>
          <p:nvPr/>
        </p:nvSpPr>
        <p:spPr>
          <a:xfrm>
            <a:off x="6553200" y="4767263"/>
            <a:ext cx="2133600" cy="273900"/>
          </a:xfrm>
          <a:prstGeom prst="rect">
            <a:avLst/>
          </a:prstGeom>
          <a:noFill/>
        </p:spPr>
        <p:txBody>
          <a:bodyPr wrap="none">
            <a:spAutoFit/>
          </a:bodyPr>
          <a:lstStyle/>
          <a:p>
            <a:pPr>
              <a:defRPr sz="1100"/>
            </a:pPr>
            <a:r>
              <a:t>67</a:t>
            </a:r>
          </a:p>
        </p:txBody>
      </p:sp>
      <p:sp>
        <p:nvSpPr>
          <p:cNvPr id="4" name="TextBox 3"/>
          <p:cNvSpPr txBox="1"/>
          <p:nvPr/>
        </p:nvSpPr>
        <p:spPr>
          <a:xfrm>
            <a:off x="124690" y="1026650"/>
            <a:ext cx="8894620" cy="3865017"/>
          </a:xfrm>
          <a:prstGeom prst="rect">
            <a:avLst/>
          </a:prstGeom>
          <a:noFill/>
        </p:spPr>
        <p:txBody>
          <a:bodyPr wrap="square">
            <a:spAutoFit/>
          </a:bodyPr>
          <a:lstStyle/>
          <a:p>
            <a:r>
              <a:rPr sz="2200" b="1"/>
              <a:t xml:space="preserve">Module Interface</a:t>
            </a:r>
          </a:p>
          <a:p>
            <a:r>
              <a:rPr sz="1800"/>
              <a:t xml:space="preserve">● UI → Backend API: Image + text (HTTP POST)</a:t>
            </a:r>
          </a:p>
          <a:p>
            <a:r>
              <a:rPr sz="1800"/>
              <a:t xml:space="preserve">● Backend → Gemini Vision: Base64 image + prompt</a:t>
            </a:r>
          </a:p>
          <a:p>
            <a:r>
              <a:rPr sz="1800"/>
              <a:t xml:space="preserve">● Gemini → Parser: Structured JSON response</a:t>
            </a:r>
          </a:p>
          <a:p>
            <a:r>
              <a:rPr sz="1800"/>
              <a:t xml:space="preserve">● Parser → Policy: Normalized risk + confidence</a:t>
            </a:r>
          </a:p>
          <a:p>
            <a:r>
              <a:rPr sz="1800"/>
              <a:t xml:space="preserve">● Policy → Mapper: Risk level → action set</a:t>
            </a:r>
          </a:p>
          <a:p>
            <a:r>
              <a:rPr sz="1800"/>
              <a:t xml:space="preserve">● Mapper → UI: Action buttons + structured response</a:t>
            </a:r>
          </a:p>
          <a:p>
            <a:r>
              <a:rPr sz="1800"/>
              <a:t xml:space="preserve">● All → SQLite: Logs for every step</a:t>
            </a:r>
          </a:p>
        </p:txBody>
      </p:sp>
    </p:spTree>
  </p:cSld>
  <p:clrMapOvr>
    <a:masterClrMapping/>
  </p:clrMapOvr>
</p:sld>
</file>

<file path=ppt/theme/theme1.xml><?xml version="1.0" encoding="utf-8"?>
<a:theme xmlns:a="http://schemas.openxmlformats.org/drawingml/2006/main" name="Office Them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5125</Words>
  <Application>Microsoft Office PowerPoint</Application>
  <PresentationFormat>On-screen Show (16:9)</PresentationFormat>
  <Paragraphs>749</Paragraphs>
  <Slides>67</Slides>
  <Notes>66</Notes>
  <HiddenSlides>16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KIRAN</dc:creator>
  <cp:lastModifiedBy>kiran raut</cp:lastModifiedBy>
  <cp:revision>1</cp:revision>
  <dcterms:modified xsi:type="dcterms:W3CDTF">2026-06-26T14:19:58Z</dcterms:modified>
</cp:coreProperties>
</file>